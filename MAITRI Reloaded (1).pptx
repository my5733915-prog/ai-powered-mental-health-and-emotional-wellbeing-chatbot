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9" r:id="rId2"/>
    <p:sldId id="284" r:id="rId3"/>
    <p:sldId id="267" r:id="rId4"/>
    <p:sldId id="268" r:id="rId5"/>
    <p:sldId id="260" r:id="rId6"/>
    <p:sldId id="271" r:id="rId7"/>
    <p:sldId id="261" r:id="rId8"/>
    <p:sldId id="266" r:id="rId9"/>
    <p:sldId id="269" r:id="rId10"/>
    <p:sldId id="270" r:id="rId11"/>
    <p:sldId id="272" r:id="rId12"/>
    <p:sldId id="273" r:id="rId13"/>
    <p:sldId id="274" r:id="rId14"/>
    <p:sldId id="275" r:id="rId15"/>
    <p:sldId id="276" r:id="rId16"/>
    <p:sldId id="277" r:id="rId17"/>
    <p:sldId id="278" r:id="rId18"/>
    <p:sldId id="279" r:id="rId19"/>
    <p:sldId id="280" r:id="rId20"/>
    <p:sldId id="282" r:id="rId21"/>
    <p:sldId id="283" r:id="rId22"/>
    <p:sldId id="264" r:id="rId23"/>
    <p:sldId id="265" r:id="rId24"/>
  </p:sldIdLst>
  <p:sldSz cx="18288000" cy="10287000"/>
  <p:notesSz cx="6858000" cy="9144000"/>
  <p:embeddedFontLst>
    <p:embeddedFont>
      <p:font typeface="Nirand Bold" panose="020B0604020202020204" charset="-3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4622" autoAdjust="0"/>
  </p:normalViewPr>
  <p:slideViewPr>
    <p:cSldViewPr>
      <p:cViewPr varScale="1">
        <p:scale>
          <a:sx n="54" d="100"/>
          <a:sy n="54" d="100"/>
        </p:scale>
        <p:origin x="542"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04423E5-791D-A630-B59D-1CDA9C5F3E61}"/>
              </a:ext>
            </a:extLst>
          </p:cNvPr>
          <p:cNvSpPr/>
          <p:nvPr/>
        </p:nvSpPr>
        <p:spPr>
          <a:xfrm>
            <a:off x="1689920" y="1188047"/>
            <a:ext cx="14859000" cy="1143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IN" sz="4800" b="1" dirty="0">
                <a:solidFill>
                  <a:schemeClr val="tx1"/>
                </a:solidFill>
                <a:latin typeface="Times New Roman" panose="02020603050405020304" pitchFamily="18" charset="0"/>
                <a:cs typeface="Times New Roman" panose="02020603050405020304" pitchFamily="18" charset="0"/>
              </a:rPr>
              <a:t>ATAL BIHARI VAJPAYEE VISHWAVIDYALAYA, BILASPUR (C.G.)</a:t>
            </a:r>
          </a:p>
          <a:p>
            <a:pPr algn="ctr"/>
            <a:r>
              <a:rPr lang="en-IN" sz="3600" b="1" dirty="0">
                <a:solidFill>
                  <a:schemeClr val="tx1"/>
                </a:solidFill>
                <a:latin typeface="Times New Roman" panose="02020603050405020304" pitchFamily="18" charset="0"/>
                <a:cs typeface="Times New Roman" panose="02020603050405020304" pitchFamily="18" charset="0"/>
              </a:rPr>
              <a:t>DEPARTMENT OF COMPUTER SCIENCE AND APPLICATION</a:t>
            </a:r>
          </a:p>
        </p:txBody>
      </p:sp>
      <p:pic>
        <p:nvPicPr>
          <p:cNvPr id="17" name="Picture 16">
            <a:extLst>
              <a:ext uri="{FF2B5EF4-FFF2-40B4-BE49-F238E27FC236}">
                <a16:creationId xmlns:a16="http://schemas.microsoft.com/office/drawing/2014/main" id="{21E0BC8D-6557-E17A-0031-C6831EBE3C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4180" y="2872455"/>
            <a:ext cx="1919549" cy="1898220"/>
          </a:xfrm>
          <a:prstGeom prst="rect">
            <a:avLst/>
          </a:prstGeom>
        </p:spPr>
      </p:pic>
      <p:sp>
        <p:nvSpPr>
          <p:cNvPr id="18" name="Rectangle 17">
            <a:extLst>
              <a:ext uri="{FF2B5EF4-FFF2-40B4-BE49-F238E27FC236}">
                <a16:creationId xmlns:a16="http://schemas.microsoft.com/office/drawing/2014/main" id="{233643A5-760B-94B7-6530-BB973CB45203}"/>
              </a:ext>
            </a:extLst>
          </p:cNvPr>
          <p:cNvSpPr/>
          <p:nvPr/>
        </p:nvSpPr>
        <p:spPr>
          <a:xfrm>
            <a:off x="3511603" y="4888371"/>
            <a:ext cx="11135132" cy="1371600"/>
          </a:xfrm>
          <a:prstGeom prst="rect">
            <a:avLst/>
          </a:prstGeom>
          <a:solidFill>
            <a:schemeClr val="bg1"/>
          </a:solidFill>
        </p:spPr>
        <p:txBody>
          <a:bodyPr wrap="square" lIns="0" tIns="0" rIns="0" bIns="0" rtlCol="0"/>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IN" sz="3200" b="1" dirty="0">
                <a:solidFill>
                  <a:schemeClr val="tx1"/>
                </a:solidFill>
                <a:latin typeface="Times New Roman" panose="02020603050405020304" pitchFamily="18" charset="0"/>
                <a:cs typeface="Times New Roman" panose="02020603050405020304" pitchFamily="18" charset="0"/>
              </a:rPr>
              <a:t>SESSION=2025-26</a:t>
            </a:r>
          </a:p>
          <a:p>
            <a:pPr algn="ctr"/>
            <a:endParaRPr lang="en-IN" sz="3200" b="1" dirty="0">
              <a:solidFill>
                <a:schemeClr val="tx1"/>
              </a:solidFill>
              <a:latin typeface="Times New Roman" panose="02020603050405020304" pitchFamily="18" charset="0"/>
              <a:cs typeface="Times New Roman" panose="02020603050405020304" pitchFamily="18" charset="0"/>
            </a:endParaRPr>
          </a:p>
          <a:p>
            <a:pPr algn="ctr"/>
            <a:r>
              <a:rPr lang="en-US" sz="3200" b="1" dirty="0">
                <a:solidFill>
                  <a:schemeClr val="tx1"/>
                </a:solidFill>
                <a:latin typeface="Times New Roman" panose="02020603050405020304" pitchFamily="18" charset="0"/>
                <a:ea typeface="Spline Sans Bold" pitchFamily="34" charset="-122"/>
                <a:cs typeface="Times New Roman" panose="02020603050405020304" pitchFamily="18" charset="0"/>
              </a:rPr>
              <a:t>Project Title :  MAITRI 🩵AI Assistant for Psychological &amp; Physical Well-Being</a:t>
            </a:r>
            <a:endParaRPr lang="en-US" sz="3200" dirty="0">
              <a:solidFill>
                <a:schemeClr val="tx1"/>
              </a:solidFill>
              <a:latin typeface="Times New Roman" panose="02020603050405020304" pitchFamily="18" charset="0"/>
              <a:cs typeface="Times New Roman" panose="02020603050405020304" pitchFamily="18" charset="0"/>
            </a:endParaRPr>
          </a:p>
          <a:p>
            <a:pPr algn="ct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20" name="TextBox 10">
            <a:extLst>
              <a:ext uri="{FF2B5EF4-FFF2-40B4-BE49-F238E27FC236}">
                <a16:creationId xmlns:a16="http://schemas.microsoft.com/office/drawing/2014/main" id="{09712387-57A9-E617-A5EA-AE90BD0F8C3D}"/>
              </a:ext>
            </a:extLst>
          </p:cNvPr>
          <p:cNvSpPr txBox="1"/>
          <p:nvPr/>
        </p:nvSpPr>
        <p:spPr>
          <a:xfrm>
            <a:off x="0" y="7652403"/>
            <a:ext cx="7966688" cy="1200329"/>
          </a:xfrm>
          <a:prstGeom prst="rect">
            <a:avLst/>
          </a:prstGeom>
          <a:noFill/>
        </p:spPr>
        <p:txBody>
          <a:bodyPr wrap="square">
            <a:spAutoFit/>
          </a:bodyPr>
          <a:lstStyle>
            <a:defPPr>
              <a:defRPr kern="0"/>
            </a:defPPr>
          </a:lstStyle>
          <a:p>
            <a:pPr algn="ctr"/>
            <a:r>
              <a:rPr lang="en-US" sz="3600" dirty="0">
                <a:latin typeface="Times New Roman" panose="02020603050405020304" pitchFamily="18" charset="0"/>
                <a:cs typeface="Times New Roman" panose="02020603050405020304" pitchFamily="18" charset="0"/>
              </a:rPr>
              <a:t>Guided by :-</a:t>
            </a:r>
          </a:p>
          <a:p>
            <a:pPr algn="ctr"/>
            <a:r>
              <a:rPr lang="en-US" sz="3600" dirty="0">
                <a:latin typeface="Times New Roman" panose="02020603050405020304" pitchFamily="18" charset="0"/>
                <a:cs typeface="Times New Roman" panose="02020603050405020304" pitchFamily="18" charset="0"/>
              </a:rPr>
              <a:t>Dr . Pallavi Singh </a:t>
            </a:r>
            <a:endParaRPr lang="en-IN" sz="3600" dirty="0">
              <a:latin typeface="Times New Roman" panose="02020603050405020304" pitchFamily="18" charset="0"/>
              <a:cs typeface="Times New Roman" panose="02020603050405020304" pitchFamily="18" charset="0"/>
            </a:endParaRPr>
          </a:p>
        </p:txBody>
      </p:sp>
      <p:grpSp>
        <p:nvGrpSpPr>
          <p:cNvPr id="21" name="Group 6">
            <a:extLst>
              <a:ext uri="{FF2B5EF4-FFF2-40B4-BE49-F238E27FC236}">
                <a16:creationId xmlns:a16="http://schemas.microsoft.com/office/drawing/2014/main" id="{86CFE1FA-A7B7-03EA-B869-006D4CF4DEAD}"/>
              </a:ext>
            </a:extLst>
          </p:cNvPr>
          <p:cNvGrpSpPr/>
          <p:nvPr/>
        </p:nvGrpSpPr>
        <p:grpSpPr>
          <a:xfrm>
            <a:off x="322038" y="-1115182"/>
            <a:ext cx="2230365" cy="2230365"/>
            <a:chOff x="0" y="0"/>
            <a:chExt cx="812800" cy="812800"/>
          </a:xfrm>
        </p:grpSpPr>
        <p:sp>
          <p:nvSpPr>
            <p:cNvPr id="22" name="Freeform 7">
              <a:extLst>
                <a:ext uri="{FF2B5EF4-FFF2-40B4-BE49-F238E27FC236}">
                  <a16:creationId xmlns:a16="http://schemas.microsoft.com/office/drawing/2014/main" id="{EF7D92B8-C890-85EC-4487-B84C3520627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latin typeface="Times New Roman" panose="02020603050405020304" pitchFamily="18" charset="0"/>
                <a:cs typeface="Times New Roman" panose="02020603050405020304" pitchFamily="18" charset="0"/>
              </a:endParaRPr>
            </a:p>
          </p:txBody>
        </p:sp>
        <p:sp>
          <p:nvSpPr>
            <p:cNvPr id="23" name="TextBox 8">
              <a:extLst>
                <a:ext uri="{FF2B5EF4-FFF2-40B4-BE49-F238E27FC236}">
                  <a16:creationId xmlns:a16="http://schemas.microsoft.com/office/drawing/2014/main" id="{0F7935C9-DE74-DD33-FC64-5063EFE2DF6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latin typeface="Times New Roman" panose="02020603050405020304" pitchFamily="18" charset="0"/>
                <a:cs typeface="Times New Roman" panose="02020603050405020304" pitchFamily="18" charset="0"/>
              </a:endParaRPr>
            </a:p>
          </p:txBody>
        </p:sp>
      </p:grpSp>
      <p:grpSp>
        <p:nvGrpSpPr>
          <p:cNvPr id="24" name="Group 2">
            <a:extLst>
              <a:ext uri="{FF2B5EF4-FFF2-40B4-BE49-F238E27FC236}">
                <a16:creationId xmlns:a16="http://schemas.microsoft.com/office/drawing/2014/main" id="{EBFFCC32-8286-ED55-7276-0782AFB9D8BE}"/>
              </a:ext>
            </a:extLst>
          </p:cNvPr>
          <p:cNvGrpSpPr/>
          <p:nvPr/>
        </p:nvGrpSpPr>
        <p:grpSpPr>
          <a:xfrm>
            <a:off x="12417447" y="7372841"/>
            <a:ext cx="8028675" cy="8028675"/>
            <a:chOff x="0" y="0"/>
            <a:chExt cx="812800" cy="812800"/>
          </a:xfrm>
        </p:grpSpPr>
        <p:sp>
          <p:nvSpPr>
            <p:cNvPr id="25" name="Freeform 3">
              <a:extLst>
                <a:ext uri="{FF2B5EF4-FFF2-40B4-BE49-F238E27FC236}">
                  <a16:creationId xmlns:a16="http://schemas.microsoft.com/office/drawing/2014/main" id="{CFF2FD0D-F295-54D1-C20A-6551BA724A8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dirty="0">
                <a:latin typeface="Times New Roman" panose="02020603050405020304" pitchFamily="18" charset="0"/>
                <a:cs typeface="Times New Roman" panose="02020603050405020304" pitchFamily="18" charset="0"/>
              </a:endParaRPr>
            </a:p>
          </p:txBody>
        </p:sp>
        <p:sp>
          <p:nvSpPr>
            <p:cNvPr id="26" name="TextBox 4">
              <a:extLst>
                <a:ext uri="{FF2B5EF4-FFF2-40B4-BE49-F238E27FC236}">
                  <a16:creationId xmlns:a16="http://schemas.microsoft.com/office/drawing/2014/main" id="{5BABAFDF-068A-A34F-DB1A-5B66FE2F6EA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latin typeface="Times New Roman" panose="02020603050405020304" pitchFamily="18" charset="0"/>
                <a:cs typeface="Times New Roman" panose="02020603050405020304" pitchFamily="18" charset="0"/>
              </a:endParaRPr>
            </a:p>
          </p:txBody>
        </p:sp>
      </p:grpSp>
      <p:sp>
        <p:nvSpPr>
          <p:cNvPr id="28" name="TextBox 27">
            <a:extLst>
              <a:ext uri="{FF2B5EF4-FFF2-40B4-BE49-F238E27FC236}">
                <a16:creationId xmlns:a16="http://schemas.microsoft.com/office/drawing/2014/main" id="{D401C9D3-CEF8-3609-2916-CA74D628397F}"/>
              </a:ext>
            </a:extLst>
          </p:cNvPr>
          <p:cNvSpPr txBox="1"/>
          <p:nvPr/>
        </p:nvSpPr>
        <p:spPr>
          <a:xfrm>
            <a:off x="8695441" y="7641211"/>
            <a:ext cx="10224654" cy="2031325"/>
          </a:xfrm>
          <a:prstGeom prst="rect">
            <a:avLst/>
          </a:prstGeom>
          <a:noFill/>
        </p:spPr>
        <p:txBody>
          <a:bodyPr wrap="square">
            <a:spAutoFit/>
          </a:bodyPr>
          <a:lstStyle/>
          <a:p>
            <a:pPr algn="ctr"/>
            <a:r>
              <a:rPr lang="en-US" sz="3600" dirty="0">
                <a:latin typeface="Times New Roman" panose="02020603050405020304" pitchFamily="18" charset="0"/>
                <a:cs typeface="Times New Roman" panose="02020603050405020304" pitchFamily="18" charset="0"/>
              </a:rPr>
              <a:t>Presented By:-</a:t>
            </a:r>
          </a:p>
          <a:p>
            <a:pPr algn="ctr"/>
            <a:r>
              <a:rPr lang="en-US" sz="3600" dirty="0">
                <a:latin typeface="Times New Roman" panose="02020603050405020304" pitchFamily="18" charset="0"/>
                <a:cs typeface="Times New Roman" panose="02020603050405020304" pitchFamily="18" charset="0"/>
              </a:rPr>
              <a:t>Anshul Kushwaha</a:t>
            </a:r>
          </a:p>
          <a:p>
            <a:pPr algn="ctr"/>
            <a:r>
              <a:rPr lang="en-US" sz="3600" dirty="0">
                <a:latin typeface="Times New Roman" panose="02020603050405020304" pitchFamily="18" charset="0"/>
                <a:cs typeface="Times New Roman" panose="02020603050405020304" pitchFamily="18" charset="0"/>
              </a:rPr>
              <a:t>Sakshi Yadav </a:t>
            </a:r>
          </a:p>
          <a:p>
            <a:pPr algn="ctr"/>
            <a:endParaRPr lang="en-IN"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15323-4444-4243-D85B-1CA927D9BCD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C2553FB-DEF4-A263-148C-82D5CD51AB48}"/>
              </a:ext>
            </a:extLst>
          </p:cNvPr>
          <p:cNvGrpSpPr/>
          <p:nvPr/>
        </p:nvGrpSpPr>
        <p:grpSpPr>
          <a:xfrm>
            <a:off x="12417447" y="7372841"/>
            <a:ext cx="8028675" cy="8028675"/>
            <a:chOff x="0" y="0"/>
            <a:chExt cx="812800" cy="812800"/>
          </a:xfrm>
        </p:grpSpPr>
        <p:sp>
          <p:nvSpPr>
            <p:cNvPr id="3" name="Freeform 3">
              <a:extLst>
                <a:ext uri="{FF2B5EF4-FFF2-40B4-BE49-F238E27FC236}">
                  <a16:creationId xmlns:a16="http://schemas.microsoft.com/office/drawing/2014/main" id="{08C42B91-45BC-A367-8ACC-F383F3FF668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latin typeface="Times New Roman" panose="02020603050405020304" pitchFamily="18" charset="0"/>
                <a:cs typeface="Times New Roman" panose="02020603050405020304" pitchFamily="18" charset="0"/>
              </a:endParaRPr>
            </a:p>
          </p:txBody>
        </p:sp>
        <p:sp>
          <p:nvSpPr>
            <p:cNvPr id="4" name="TextBox 4">
              <a:extLst>
                <a:ext uri="{FF2B5EF4-FFF2-40B4-BE49-F238E27FC236}">
                  <a16:creationId xmlns:a16="http://schemas.microsoft.com/office/drawing/2014/main" id="{9DEBE9D7-B3DC-1B30-84B0-7E9C4010DA2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latin typeface="Times New Roman" panose="02020603050405020304" pitchFamily="18" charset="0"/>
                <a:cs typeface="Times New Roman" panose="02020603050405020304" pitchFamily="18" charset="0"/>
              </a:endParaRPr>
            </a:p>
          </p:txBody>
        </p:sp>
      </p:grpSp>
      <p:sp>
        <p:nvSpPr>
          <p:cNvPr id="5" name="AutoShape 5">
            <a:extLst>
              <a:ext uri="{FF2B5EF4-FFF2-40B4-BE49-F238E27FC236}">
                <a16:creationId xmlns:a16="http://schemas.microsoft.com/office/drawing/2014/main" id="{9D39881A-6C91-92FF-D6E3-AE148E77CBCF}"/>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IN">
              <a:latin typeface="Times New Roman" panose="02020603050405020304" pitchFamily="18" charset="0"/>
              <a:cs typeface="Times New Roman" panose="02020603050405020304" pitchFamily="18" charset="0"/>
            </a:endParaRPr>
          </a:p>
        </p:txBody>
      </p:sp>
      <p:grpSp>
        <p:nvGrpSpPr>
          <p:cNvPr id="6" name="Group 6">
            <a:extLst>
              <a:ext uri="{FF2B5EF4-FFF2-40B4-BE49-F238E27FC236}">
                <a16:creationId xmlns:a16="http://schemas.microsoft.com/office/drawing/2014/main" id="{A52BB706-87CD-8810-CBAD-A28CCF00E453}"/>
              </a:ext>
            </a:extLst>
          </p:cNvPr>
          <p:cNvGrpSpPr/>
          <p:nvPr/>
        </p:nvGrpSpPr>
        <p:grpSpPr>
          <a:xfrm>
            <a:off x="322038" y="-1115182"/>
            <a:ext cx="2230365" cy="2230365"/>
            <a:chOff x="0" y="0"/>
            <a:chExt cx="812800" cy="812800"/>
          </a:xfrm>
        </p:grpSpPr>
        <p:sp>
          <p:nvSpPr>
            <p:cNvPr id="7" name="Freeform 7">
              <a:extLst>
                <a:ext uri="{FF2B5EF4-FFF2-40B4-BE49-F238E27FC236}">
                  <a16:creationId xmlns:a16="http://schemas.microsoft.com/office/drawing/2014/main" id="{FED847CB-5744-18C9-2E58-D4F5892DD11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latin typeface="Times New Roman" panose="02020603050405020304" pitchFamily="18" charset="0"/>
                <a:cs typeface="Times New Roman" panose="02020603050405020304" pitchFamily="18" charset="0"/>
              </a:endParaRPr>
            </a:p>
          </p:txBody>
        </p:sp>
        <p:sp>
          <p:nvSpPr>
            <p:cNvPr id="8" name="TextBox 8">
              <a:extLst>
                <a:ext uri="{FF2B5EF4-FFF2-40B4-BE49-F238E27FC236}">
                  <a16:creationId xmlns:a16="http://schemas.microsoft.com/office/drawing/2014/main" id="{6F6E8E92-AC4F-E6A8-66BD-3FDCF44302E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latin typeface="Times New Roman" panose="02020603050405020304" pitchFamily="18" charset="0"/>
                <a:cs typeface="Times New Roman" panose="02020603050405020304" pitchFamily="18" charset="0"/>
              </a:endParaRPr>
            </a:p>
          </p:txBody>
        </p:sp>
      </p:grpSp>
      <p:sp>
        <p:nvSpPr>
          <p:cNvPr id="9" name="TextBox 9">
            <a:extLst>
              <a:ext uri="{FF2B5EF4-FFF2-40B4-BE49-F238E27FC236}">
                <a16:creationId xmlns:a16="http://schemas.microsoft.com/office/drawing/2014/main" id="{2CF63E2E-0F17-5AD5-3167-3BD79FDA687C}"/>
              </a:ext>
            </a:extLst>
          </p:cNvPr>
          <p:cNvSpPr txBox="1"/>
          <p:nvPr/>
        </p:nvSpPr>
        <p:spPr>
          <a:xfrm>
            <a:off x="3206452" y="-52274"/>
            <a:ext cx="11875096" cy="1208279"/>
          </a:xfrm>
          <a:prstGeom prst="rect">
            <a:avLst/>
          </a:prstGeom>
        </p:spPr>
        <p:txBody>
          <a:bodyPr wrap="square" lIns="0" tIns="0" rIns="0" bIns="0" rtlCol="0" anchor="t">
            <a:spAutoFit/>
          </a:bodyPr>
          <a:lstStyle/>
          <a:p>
            <a:pPr algn="ctr">
              <a:lnSpc>
                <a:spcPts val="10500"/>
              </a:lnSpc>
            </a:pPr>
            <a:r>
              <a:rPr lang="en-IN" sz="6600" b="1" dirty="0">
                <a:latin typeface="Times New Roman" panose="02020603050405020304" pitchFamily="18" charset="0"/>
                <a:cs typeface="Times New Roman" panose="02020603050405020304" pitchFamily="18" charset="0"/>
              </a:rPr>
              <a:t>Project Overview – MAITRI</a:t>
            </a:r>
            <a:endParaRPr lang="en-US" sz="6600" b="1" dirty="0">
              <a:solidFill>
                <a:srgbClr val="2E3A44"/>
              </a:solidFill>
              <a:latin typeface="Times New Roman" panose="02020603050405020304" pitchFamily="18" charset="0"/>
              <a:ea typeface="Nirand Bold"/>
              <a:cs typeface="Times New Roman" panose="02020603050405020304" pitchFamily="18" charset="0"/>
              <a:sym typeface="Nirand Bold"/>
            </a:endParaRPr>
          </a:p>
        </p:txBody>
      </p:sp>
      <p:sp>
        <p:nvSpPr>
          <p:cNvPr id="31" name="TextBox 30">
            <a:extLst>
              <a:ext uri="{FF2B5EF4-FFF2-40B4-BE49-F238E27FC236}">
                <a16:creationId xmlns:a16="http://schemas.microsoft.com/office/drawing/2014/main" id="{C73451E3-6228-74D4-28AB-ED23D794F681}"/>
              </a:ext>
            </a:extLst>
          </p:cNvPr>
          <p:cNvSpPr txBox="1"/>
          <p:nvPr/>
        </p:nvSpPr>
        <p:spPr>
          <a:xfrm>
            <a:off x="3421462" y="1987284"/>
            <a:ext cx="13030200" cy="3477875"/>
          </a:xfrm>
          <a:prstGeom prst="rect">
            <a:avLst/>
          </a:prstGeom>
          <a:noFill/>
        </p:spPr>
        <p:txBody>
          <a:bodyPr wrap="square">
            <a:spAutoFit/>
          </a:bodyPr>
          <a:lstStyle/>
          <a:p>
            <a:pPr algn="just">
              <a:buNone/>
            </a:pPr>
            <a:r>
              <a:rPr lang="en-US" sz="2800" b="1" dirty="0">
                <a:solidFill>
                  <a:srgbClr val="002060"/>
                </a:solidFill>
                <a:latin typeface="Times New Roman" panose="02020603050405020304" pitchFamily="18" charset="0"/>
                <a:cs typeface="Times New Roman" panose="02020603050405020304" pitchFamily="18" charset="0"/>
              </a:rPr>
              <a:t>What is MAITRI?</a:t>
            </a:r>
          </a:p>
          <a:p>
            <a:pPr algn="just">
              <a:buNone/>
            </a:pPr>
            <a:r>
              <a:rPr lang="en-US" sz="2400" b="1" dirty="0">
                <a:latin typeface="Times New Roman" panose="02020603050405020304" pitchFamily="18" charset="0"/>
                <a:cs typeface="Times New Roman" panose="02020603050405020304" pitchFamily="18" charset="0"/>
              </a:rPr>
              <a:t>MAITRI (Mental AI Therapeutic Response Interface)</a:t>
            </a:r>
            <a:r>
              <a:rPr lang="en-US" sz="2400" dirty="0">
                <a:latin typeface="Times New Roman" panose="02020603050405020304" pitchFamily="18" charset="0"/>
                <a:cs typeface="Times New Roman" panose="02020603050405020304" pitchFamily="18" charset="0"/>
              </a:rPr>
              <a:t> is an AI-powered mental health companion designed to understand human emotions and provide empathetic emotional support. It uses </a:t>
            </a:r>
            <a:r>
              <a:rPr lang="en-US" sz="2400" b="1" dirty="0">
                <a:latin typeface="Times New Roman" panose="02020603050405020304" pitchFamily="18" charset="0"/>
                <a:cs typeface="Times New Roman" panose="02020603050405020304" pitchFamily="18" charset="0"/>
              </a:rPr>
              <a:t>artificial intelligence and deep learning</a:t>
            </a:r>
            <a:r>
              <a:rPr lang="en-US" sz="2400" dirty="0">
                <a:latin typeface="Times New Roman" panose="02020603050405020304" pitchFamily="18" charset="0"/>
                <a:cs typeface="Times New Roman" panose="02020603050405020304" pitchFamily="18" charset="0"/>
              </a:rPr>
              <a:t> to detect a user’s emotional state through </a:t>
            </a:r>
            <a:r>
              <a:rPr lang="en-US" sz="2400" b="1" dirty="0">
                <a:latin typeface="Times New Roman" panose="02020603050405020304" pitchFamily="18" charset="0"/>
                <a:cs typeface="Times New Roman" panose="02020603050405020304" pitchFamily="18" charset="0"/>
              </a:rPr>
              <a:t>facial expressions, voice signals, and chat-based interaction</a:t>
            </a:r>
            <a:r>
              <a:rPr lang="en-US" sz="2400" dirty="0">
                <a:latin typeface="Times New Roman" panose="02020603050405020304" pitchFamily="18" charset="0"/>
                <a:cs typeface="Times New Roman" panose="02020603050405020304" pitchFamily="18" charset="0"/>
              </a:rPr>
              <a:t>, and then responds in a supportive and human-like manner using natural Hinglish language.</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The goal of MAITRI is not to replace mental health professionals, but to act as a </a:t>
            </a:r>
            <a:r>
              <a:rPr lang="en-US" sz="2400" b="1" dirty="0">
                <a:latin typeface="Times New Roman" panose="02020603050405020304" pitchFamily="18" charset="0"/>
                <a:cs typeface="Times New Roman" panose="02020603050405020304" pitchFamily="18" charset="0"/>
              </a:rPr>
              <a:t>first-level emotional support system</a:t>
            </a:r>
            <a:r>
              <a:rPr lang="en-US" sz="2400" dirty="0">
                <a:latin typeface="Times New Roman" panose="02020603050405020304" pitchFamily="18" charset="0"/>
                <a:cs typeface="Times New Roman" panose="02020603050405020304" pitchFamily="18" charset="0"/>
              </a:rPr>
              <a:t> that helps users feel heard, understood, and emotionally supported anytime.</a:t>
            </a:r>
          </a:p>
        </p:txBody>
      </p:sp>
      <p:sp>
        <p:nvSpPr>
          <p:cNvPr id="33" name="TextBox 32">
            <a:extLst>
              <a:ext uri="{FF2B5EF4-FFF2-40B4-BE49-F238E27FC236}">
                <a16:creationId xmlns:a16="http://schemas.microsoft.com/office/drawing/2014/main" id="{4726DD37-0C45-4961-052E-42C46EEEFDAB}"/>
              </a:ext>
            </a:extLst>
          </p:cNvPr>
          <p:cNvSpPr txBox="1"/>
          <p:nvPr/>
        </p:nvSpPr>
        <p:spPr>
          <a:xfrm>
            <a:off x="3421462" y="5853624"/>
            <a:ext cx="10224052" cy="2369880"/>
          </a:xfrm>
          <a:prstGeom prst="rect">
            <a:avLst/>
          </a:prstGeom>
          <a:noFill/>
        </p:spPr>
        <p:txBody>
          <a:bodyPr wrap="square">
            <a:spAutoFit/>
          </a:bodyPr>
          <a:lstStyle/>
          <a:p>
            <a:pPr algn="just">
              <a:buNone/>
            </a:pPr>
            <a:r>
              <a:rPr lang="en-US" sz="2800" b="1" dirty="0">
                <a:solidFill>
                  <a:srgbClr val="002060"/>
                </a:solidFill>
                <a:latin typeface="Times New Roman" panose="02020603050405020304" pitchFamily="18" charset="0"/>
                <a:cs typeface="Times New Roman" panose="02020603050405020304" pitchFamily="18" charset="0"/>
              </a:rPr>
              <a:t>Why is this Project Important?</a:t>
            </a:r>
          </a:p>
          <a:p>
            <a:pPr algn="just">
              <a:buNone/>
            </a:pPr>
            <a:r>
              <a:rPr lang="en-US" sz="2400" dirty="0">
                <a:latin typeface="Times New Roman" panose="02020603050405020304" pitchFamily="18" charset="0"/>
                <a:cs typeface="Times New Roman" panose="02020603050405020304" pitchFamily="18" charset="0"/>
              </a:rPr>
              <a:t>Mental health issues such as stress, anxiety, loneliness, and emotional fatigue are increasing rapidly, but:</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Many people hesitate to openly talk about their feelings</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Professional help is not always accessible or affordable</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Traditional chatbots rely only on text and fail to understand real emotions</a:t>
            </a:r>
          </a:p>
        </p:txBody>
      </p:sp>
    </p:spTree>
    <p:extLst>
      <p:ext uri="{BB962C8B-B14F-4D97-AF65-F5344CB8AC3E}">
        <p14:creationId xmlns:p14="http://schemas.microsoft.com/office/powerpoint/2010/main" val="3436855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72C87-DF0D-6FA1-F46C-AAD64E24265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ADD8701-B2B3-A6F9-6512-46D1DBE37C1D}"/>
              </a:ext>
            </a:extLst>
          </p:cNvPr>
          <p:cNvGrpSpPr/>
          <p:nvPr/>
        </p:nvGrpSpPr>
        <p:grpSpPr>
          <a:xfrm>
            <a:off x="12417447" y="7372841"/>
            <a:ext cx="8028675" cy="8028675"/>
            <a:chOff x="0" y="0"/>
            <a:chExt cx="812800" cy="812800"/>
          </a:xfrm>
        </p:grpSpPr>
        <p:sp>
          <p:nvSpPr>
            <p:cNvPr id="3" name="Freeform 3">
              <a:extLst>
                <a:ext uri="{FF2B5EF4-FFF2-40B4-BE49-F238E27FC236}">
                  <a16:creationId xmlns:a16="http://schemas.microsoft.com/office/drawing/2014/main" id="{138F8EC0-7700-7B6D-429E-A5C56CD5627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4" name="TextBox 4">
              <a:extLst>
                <a:ext uri="{FF2B5EF4-FFF2-40B4-BE49-F238E27FC236}">
                  <a16:creationId xmlns:a16="http://schemas.microsoft.com/office/drawing/2014/main" id="{88C6576A-F0A4-A748-D595-9D7C00AD17C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a:extLst>
              <a:ext uri="{FF2B5EF4-FFF2-40B4-BE49-F238E27FC236}">
                <a16:creationId xmlns:a16="http://schemas.microsoft.com/office/drawing/2014/main" id="{C426C4AD-932C-016E-5D74-99F0AF2AF0ED}"/>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IN"/>
          </a:p>
        </p:txBody>
      </p:sp>
      <p:grpSp>
        <p:nvGrpSpPr>
          <p:cNvPr id="6" name="Group 6">
            <a:extLst>
              <a:ext uri="{FF2B5EF4-FFF2-40B4-BE49-F238E27FC236}">
                <a16:creationId xmlns:a16="http://schemas.microsoft.com/office/drawing/2014/main" id="{EA70A8CE-3D0B-4791-B5AF-E0291A9510A4}"/>
              </a:ext>
            </a:extLst>
          </p:cNvPr>
          <p:cNvGrpSpPr/>
          <p:nvPr/>
        </p:nvGrpSpPr>
        <p:grpSpPr>
          <a:xfrm>
            <a:off x="322038" y="-1115182"/>
            <a:ext cx="2230365" cy="2230365"/>
            <a:chOff x="0" y="0"/>
            <a:chExt cx="812800" cy="812800"/>
          </a:xfrm>
        </p:grpSpPr>
        <p:sp>
          <p:nvSpPr>
            <p:cNvPr id="7" name="Freeform 7">
              <a:extLst>
                <a:ext uri="{FF2B5EF4-FFF2-40B4-BE49-F238E27FC236}">
                  <a16:creationId xmlns:a16="http://schemas.microsoft.com/office/drawing/2014/main" id="{30136EBA-497F-B795-9F62-362546D4DB8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8" name="TextBox 8">
              <a:extLst>
                <a:ext uri="{FF2B5EF4-FFF2-40B4-BE49-F238E27FC236}">
                  <a16:creationId xmlns:a16="http://schemas.microsoft.com/office/drawing/2014/main" id="{D2833C55-A917-69D5-1C73-803A9CF7D2E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a:extLst>
              <a:ext uri="{FF2B5EF4-FFF2-40B4-BE49-F238E27FC236}">
                <a16:creationId xmlns:a16="http://schemas.microsoft.com/office/drawing/2014/main" id="{AE819EAC-BE32-2D07-FC2D-96805ADBC494}"/>
              </a:ext>
            </a:extLst>
          </p:cNvPr>
          <p:cNvSpPr txBox="1"/>
          <p:nvPr/>
        </p:nvSpPr>
        <p:spPr>
          <a:xfrm>
            <a:off x="2819400" y="1105764"/>
            <a:ext cx="11875096" cy="1208279"/>
          </a:xfrm>
          <a:prstGeom prst="rect">
            <a:avLst/>
          </a:prstGeom>
        </p:spPr>
        <p:txBody>
          <a:bodyPr wrap="square" lIns="0" tIns="0" rIns="0" bIns="0" rtlCol="0" anchor="t">
            <a:spAutoFit/>
          </a:bodyPr>
          <a:lstStyle/>
          <a:p>
            <a:pPr algn="ctr">
              <a:lnSpc>
                <a:spcPts val="10500"/>
              </a:lnSpc>
            </a:pPr>
            <a:r>
              <a:rPr lang="en-IN" sz="6600" b="1" dirty="0">
                <a:latin typeface="Times New Roman" panose="02020603050405020304" pitchFamily="18" charset="0"/>
                <a:cs typeface="Times New Roman" panose="02020603050405020304" pitchFamily="18" charset="0"/>
              </a:rPr>
              <a:t>Project Overview – MAITRI</a:t>
            </a:r>
            <a:endParaRPr lang="en-US" sz="6600" b="1" dirty="0">
              <a:solidFill>
                <a:srgbClr val="2E3A44"/>
              </a:solidFill>
              <a:latin typeface="Times New Roman" panose="02020603050405020304" pitchFamily="18" charset="0"/>
              <a:ea typeface="Nirand Bold"/>
              <a:cs typeface="Times New Roman" panose="02020603050405020304" pitchFamily="18" charset="0"/>
              <a:sym typeface="Nirand Bold"/>
            </a:endParaRPr>
          </a:p>
        </p:txBody>
      </p:sp>
      <p:sp>
        <p:nvSpPr>
          <p:cNvPr id="31" name="TextBox 30">
            <a:extLst>
              <a:ext uri="{FF2B5EF4-FFF2-40B4-BE49-F238E27FC236}">
                <a16:creationId xmlns:a16="http://schemas.microsoft.com/office/drawing/2014/main" id="{2901ADCC-A49D-EDB5-915C-B4137255C88E}"/>
              </a:ext>
            </a:extLst>
          </p:cNvPr>
          <p:cNvSpPr txBox="1"/>
          <p:nvPr/>
        </p:nvSpPr>
        <p:spPr>
          <a:xfrm>
            <a:off x="3124200" y="3344474"/>
            <a:ext cx="12496800" cy="4216539"/>
          </a:xfrm>
          <a:prstGeom prst="rect">
            <a:avLst/>
          </a:prstGeom>
          <a:noFill/>
        </p:spPr>
        <p:txBody>
          <a:bodyPr wrap="square">
            <a:spAutoFit/>
          </a:bodyPr>
          <a:lstStyle/>
          <a:p>
            <a:pPr algn="just">
              <a:buNone/>
            </a:pPr>
            <a:r>
              <a:rPr lang="en-US" sz="2800" b="1" dirty="0">
                <a:solidFill>
                  <a:srgbClr val="002060"/>
                </a:solidFill>
                <a:latin typeface="Times New Roman" panose="02020603050405020304" pitchFamily="18" charset="0"/>
                <a:cs typeface="Times New Roman" panose="02020603050405020304" pitchFamily="18" charset="0"/>
              </a:rPr>
              <a:t>MAITRI addresses these challenges by:</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Detecting emotions automatically</a:t>
            </a:r>
            <a:r>
              <a:rPr lang="en-US" sz="2400" dirty="0">
                <a:latin typeface="Times New Roman" panose="02020603050405020304" pitchFamily="18" charset="0"/>
                <a:cs typeface="Times New Roman" panose="02020603050405020304" pitchFamily="18" charset="0"/>
              </a:rPr>
              <a:t>, even when users don’t express them clearly</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Providing </a:t>
            </a:r>
            <a:r>
              <a:rPr lang="en-US" sz="2400" b="1" dirty="0">
                <a:latin typeface="Times New Roman" panose="02020603050405020304" pitchFamily="18" charset="0"/>
                <a:cs typeface="Times New Roman" panose="02020603050405020304" pitchFamily="18" charset="0"/>
              </a:rPr>
              <a:t>24/7 emotional support</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Reducing stigma around mental health conversations</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Creating a safe, non-judgmental space for emotional expression</a:t>
            </a:r>
          </a:p>
          <a:p>
            <a:pPr algn="just"/>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By combining AI with emotional intelligence, MAITRI makes mental health support </a:t>
            </a:r>
            <a:r>
              <a:rPr lang="en-US" sz="2400" b="1" dirty="0">
                <a:latin typeface="Times New Roman" panose="02020603050405020304" pitchFamily="18" charset="0"/>
                <a:cs typeface="Times New Roman" panose="02020603050405020304" pitchFamily="18" charset="0"/>
              </a:rPr>
              <a:t>more accessible, personalized, and human-centric</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90030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009C8-450D-329E-DB0D-1C8F3D0C3CE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4CB95B3-1319-D975-6F5F-F5C53BAB7A9B}"/>
              </a:ext>
            </a:extLst>
          </p:cNvPr>
          <p:cNvGrpSpPr/>
          <p:nvPr/>
        </p:nvGrpSpPr>
        <p:grpSpPr>
          <a:xfrm>
            <a:off x="12417447" y="7372841"/>
            <a:ext cx="8028675" cy="8028675"/>
            <a:chOff x="0" y="0"/>
            <a:chExt cx="812800" cy="812800"/>
          </a:xfrm>
        </p:grpSpPr>
        <p:sp>
          <p:nvSpPr>
            <p:cNvPr id="3" name="Freeform 3">
              <a:extLst>
                <a:ext uri="{FF2B5EF4-FFF2-40B4-BE49-F238E27FC236}">
                  <a16:creationId xmlns:a16="http://schemas.microsoft.com/office/drawing/2014/main" id="{6F6DE099-A011-A65C-3BDE-84796420184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4" name="TextBox 4">
              <a:extLst>
                <a:ext uri="{FF2B5EF4-FFF2-40B4-BE49-F238E27FC236}">
                  <a16:creationId xmlns:a16="http://schemas.microsoft.com/office/drawing/2014/main" id="{029ABA71-6C2C-5008-DA64-177DB3933AE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a:extLst>
              <a:ext uri="{FF2B5EF4-FFF2-40B4-BE49-F238E27FC236}">
                <a16:creationId xmlns:a16="http://schemas.microsoft.com/office/drawing/2014/main" id="{57534C06-1F9E-35D5-ABB7-EF2C023078A0}"/>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IN"/>
          </a:p>
        </p:txBody>
      </p:sp>
      <p:grpSp>
        <p:nvGrpSpPr>
          <p:cNvPr id="6" name="Group 6">
            <a:extLst>
              <a:ext uri="{FF2B5EF4-FFF2-40B4-BE49-F238E27FC236}">
                <a16:creationId xmlns:a16="http://schemas.microsoft.com/office/drawing/2014/main" id="{37720DA4-5261-F83F-9405-97AC3ADA9B75}"/>
              </a:ext>
            </a:extLst>
          </p:cNvPr>
          <p:cNvGrpSpPr/>
          <p:nvPr/>
        </p:nvGrpSpPr>
        <p:grpSpPr>
          <a:xfrm>
            <a:off x="322038" y="-1115182"/>
            <a:ext cx="2230365" cy="2230365"/>
            <a:chOff x="0" y="0"/>
            <a:chExt cx="812800" cy="812800"/>
          </a:xfrm>
        </p:grpSpPr>
        <p:sp>
          <p:nvSpPr>
            <p:cNvPr id="7" name="Freeform 7">
              <a:extLst>
                <a:ext uri="{FF2B5EF4-FFF2-40B4-BE49-F238E27FC236}">
                  <a16:creationId xmlns:a16="http://schemas.microsoft.com/office/drawing/2014/main" id="{2A573A26-E227-BAFB-E1ED-AC64997E114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8" name="TextBox 8">
              <a:extLst>
                <a:ext uri="{FF2B5EF4-FFF2-40B4-BE49-F238E27FC236}">
                  <a16:creationId xmlns:a16="http://schemas.microsoft.com/office/drawing/2014/main" id="{FB89DD55-E63E-661F-9461-69432D5A455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a:extLst>
              <a:ext uri="{FF2B5EF4-FFF2-40B4-BE49-F238E27FC236}">
                <a16:creationId xmlns:a16="http://schemas.microsoft.com/office/drawing/2014/main" id="{AFC6B575-6DE8-ACC6-8558-E4C65D84CE21}"/>
              </a:ext>
            </a:extLst>
          </p:cNvPr>
          <p:cNvSpPr txBox="1"/>
          <p:nvPr/>
        </p:nvSpPr>
        <p:spPr>
          <a:xfrm>
            <a:off x="2971800" y="-175811"/>
            <a:ext cx="11875096" cy="1208279"/>
          </a:xfrm>
          <a:prstGeom prst="rect">
            <a:avLst/>
          </a:prstGeom>
        </p:spPr>
        <p:txBody>
          <a:bodyPr wrap="square" lIns="0" tIns="0" rIns="0" bIns="0" rtlCol="0" anchor="t">
            <a:spAutoFit/>
          </a:bodyPr>
          <a:lstStyle/>
          <a:p>
            <a:pPr algn="ctr">
              <a:lnSpc>
                <a:spcPts val="10500"/>
              </a:lnSpc>
            </a:pPr>
            <a:r>
              <a:rPr lang="en-IN" sz="6600" b="1" dirty="0">
                <a:latin typeface="Times New Roman" panose="02020603050405020304" pitchFamily="18" charset="0"/>
                <a:cs typeface="Times New Roman" panose="02020603050405020304" pitchFamily="18" charset="0"/>
              </a:rPr>
              <a:t>Project Overview – MAITRI</a:t>
            </a:r>
            <a:endParaRPr lang="en-US" sz="6600" b="1" dirty="0">
              <a:solidFill>
                <a:srgbClr val="2E3A44"/>
              </a:solidFill>
              <a:latin typeface="Times New Roman" panose="02020603050405020304" pitchFamily="18" charset="0"/>
              <a:ea typeface="Nirand Bold"/>
              <a:cs typeface="Times New Roman" panose="02020603050405020304" pitchFamily="18" charset="0"/>
              <a:sym typeface="Nirand Bold"/>
            </a:endParaRPr>
          </a:p>
        </p:txBody>
      </p:sp>
      <p:sp>
        <p:nvSpPr>
          <p:cNvPr id="31" name="TextBox 30">
            <a:extLst>
              <a:ext uri="{FF2B5EF4-FFF2-40B4-BE49-F238E27FC236}">
                <a16:creationId xmlns:a16="http://schemas.microsoft.com/office/drawing/2014/main" id="{7B53FE2D-AE4A-7D9E-6A07-BE15A8B447CF}"/>
              </a:ext>
            </a:extLst>
          </p:cNvPr>
          <p:cNvSpPr txBox="1"/>
          <p:nvPr/>
        </p:nvSpPr>
        <p:spPr>
          <a:xfrm>
            <a:off x="2819400" y="1229626"/>
            <a:ext cx="13952138" cy="8340745"/>
          </a:xfrm>
          <a:prstGeom prst="rect">
            <a:avLst/>
          </a:prstGeom>
          <a:noFill/>
        </p:spPr>
        <p:txBody>
          <a:bodyPr wrap="square">
            <a:spAutoFit/>
          </a:bodyPr>
          <a:lstStyle/>
          <a:p>
            <a:pPr algn="just">
              <a:buNone/>
            </a:pPr>
            <a:r>
              <a:rPr lang="en-US" sz="2800" b="1" dirty="0">
                <a:solidFill>
                  <a:srgbClr val="002060"/>
                </a:solidFill>
                <a:latin typeface="Times New Roman" panose="02020603050405020304" pitchFamily="18" charset="0"/>
                <a:cs typeface="Times New Roman" panose="02020603050405020304" pitchFamily="18" charset="0"/>
              </a:rPr>
              <a:t>Key Features of MAITRI</a:t>
            </a:r>
          </a:p>
          <a:p>
            <a:pPr algn="just">
              <a:buNone/>
            </a:pPr>
            <a:endParaRPr lang="en-US" sz="2800" b="1" dirty="0">
              <a:solidFill>
                <a:srgbClr val="002060"/>
              </a:solidFill>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1. Facial Emotion Detection</a:t>
            </a:r>
          </a:p>
          <a:p>
            <a:pPr algn="just">
              <a:buNone/>
            </a:pPr>
            <a:r>
              <a:rPr lang="en-US" sz="2400" dirty="0">
                <a:latin typeface="Times New Roman" panose="02020603050405020304" pitchFamily="18" charset="0"/>
                <a:cs typeface="Times New Roman" panose="02020603050405020304" pitchFamily="18" charset="0"/>
              </a:rPr>
              <a:t>MAITRI analyzes real-time facial expressions using a webcam and a deep learning </a:t>
            </a:r>
            <a:r>
              <a:rPr lang="en-US" sz="2400" b="1" dirty="0">
                <a:latin typeface="Times New Roman" panose="02020603050405020304" pitchFamily="18" charset="0"/>
                <a:cs typeface="Times New Roman" panose="02020603050405020304" pitchFamily="18" charset="0"/>
              </a:rPr>
              <a:t>CNN model</a:t>
            </a:r>
            <a:r>
              <a:rPr lang="en-US" sz="2400" dirty="0">
                <a:latin typeface="Times New Roman" panose="02020603050405020304" pitchFamily="18" charset="0"/>
                <a:cs typeface="Times New Roman" panose="02020603050405020304" pitchFamily="18" charset="0"/>
              </a:rPr>
              <a:t>. It detects emotions such as happiness, sadness, anger, fear, surprise, and neutrality. Based on the detected emotion, MAITRI provides empathetic responses and supportive suggestions.</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2. Voice Emotion Analysis</a:t>
            </a:r>
          </a:p>
          <a:p>
            <a:pPr algn="just">
              <a:buNone/>
            </a:pPr>
            <a:r>
              <a:rPr lang="en-US" sz="2400" dirty="0">
                <a:latin typeface="Times New Roman" panose="02020603050405020304" pitchFamily="18" charset="0"/>
                <a:cs typeface="Times New Roman" panose="02020603050405020304" pitchFamily="18" charset="0"/>
              </a:rPr>
              <a:t>Through voice input, MAITRI analyzes speech tone, pitch, energy, and emotional patterns using a </a:t>
            </a:r>
            <a:r>
              <a:rPr lang="en-US" sz="2400" b="1" dirty="0" err="1">
                <a:latin typeface="Times New Roman" panose="02020603050405020304" pitchFamily="18" charset="0"/>
                <a:cs typeface="Times New Roman" panose="02020603050405020304" pitchFamily="18" charset="0"/>
              </a:rPr>
              <a:t>HuBERT</a:t>
            </a:r>
            <a:r>
              <a:rPr lang="en-US" sz="2400" b="1" dirty="0">
                <a:latin typeface="Times New Roman" panose="02020603050405020304" pitchFamily="18" charset="0"/>
                <a:cs typeface="Times New Roman" panose="02020603050405020304" pitchFamily="18" charset="0"/>
              </a:rPr>
              <a:t>-based deep learning model</a:t>
            </a:r>
            <a:r>
              <a:rPr lang="en-US" sz="2400" dirty="0">
                <a:latin typeface="Times New Roman" panose="02020603050405020304" pitchFamily="18" charset="0"/>
                <a:cs typeface="Times New Roman" panose="02020603050405020304" pitchFamily="18" charset="0"/>
              </a:rPr>
              <a:t>. This helps in identifying hidden emotions that may not be visible on the face or expressed in words.</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3. Chat-Based Emotional Interaction</a:t>
            </a:r>
          </a:p>
          <a:p>
            <a:pPr algn="just">
              <a:buNone/>
            </a:pPr>
            <a:r>
              <a:rPr lang="en-US" sz="2400" dirty="0">
                <a:latin typeface="Times New Roman" panose="02020603050405020304" pitchFamily="18" charset="0"/>
                <a:cs typeface="Times New Roman" panose="02020603050405020304" pitchFamily="18" charset="0"/>
              </a:rPr>
              <a:t>MAITRI includes an interactive chat and mood check-in system where users can describe their feelings. Using an advanced </a:t>
            </a:r>
            <a:r>
              <a:rPr lang="en-US" sz="2400" b="1" dirty="0">
                <a:latin typeface="Times New Roman" panose="02020603050405020304" pitchFamily="18" charset="0"/>
                <a:cs typeface="Times New Roman" panose="02020603050405020304" pitchFamily="18" charset="0"/>
              </a:rPr>
              <a:t>AI language model</a:t>
            </a:r>
            <a:r>
              <a:rPr lang="en-US" sz="2400" dirty="0">
                <a:latin typeface="Times New Roman" panose="02020603050405020304" pitchFamily="18" charset="0"/>
                <a:cs typeface="Times New Roman" panose="02020603050405020304" pitchFamily="18" charset="0"/>
              </a:rPr>
              <a:t>, MAITRI understands emotional context and generates comforting, motivational, and personalized responses in Hinglish.</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Overall Vision By combining face, voice, and text-based emotion analysis, MAITRI offers a multimodal and intelligent approach to mental health support, making emotional assistance more natural, reliable, and accessible in everyday life.</a:t>
            </a:r>
          </a:p>
          <a:p>
            <a:pPr algn="just">
              <a:buNone/>
            </a:pP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2136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5194" y="-1345629"/>
            <a:ext cx="3517329" cy="351732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129662" y="7824967"/>
            <a:ext cx="8028675" cy="802867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IN"/>
          </a:p>
        </p:txBody>
      </p:sp>
      <p:grpSp>
        <p:nvGrpSpPr>
          <p:cNvPr id="9" name="Group 9"/>
          <p:cNvGrpSpPr/>
          <p:nvPr/>
        </p:nvGrpSpPr>
        <p:grpSpPr>
          <a:xfrm>
            <a:off x="13276242" y="-767852"/>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4579025" y="-11887"/>
            <a:ext cx="8807832" cy="1222964"/>
          </a:xfrm>
          <a:prstGeom prst="rect">
            <a:avLst/>
          </a:prstGeom>
        </p:spPr>
        <p:txBody>
          <a:bodyPr lIns="0" tIns="0" rIns="0" bIns="0" rtlCol="0" anchor="t">
            <a:spAutoFit/>
          </a:bodyPr>
          <a:lstStyle/>
          <a:p>
            <a:pPr algn="ctr">
              <a:lnSpc>
                <a:spcPts val="10500"/>
              </a:lnSpc>
            </a:pPr>
            <a:r>
              <a:rPr lang="en-US" sz="6000" b="1" dirty="0">
                <a:solidFill>
                  <a:srgbClr val="2E3A44"/>
                </a:solidFill>
                <a:latin typeface="Times New Roman" panose="02020603050405020304" pitchFamily="18" charset="0"/>
                <a:ea typeface="Nirand Bold"/>
                <a:cs typeface="Times New Roman" panose="02020603050405020304" pitchFamily="18" charset="0"/>
                <a:sym typeface="Nirand Bold"/>
              </a:rPr>
              <a:t>PROBLEM STATEMENT</a:t>
            </a:r>
          </a:p>
        </p:txBody>
      </p:sp>
      <p:sp>
        <p:nvSpPr>
          <p:cNvPr id="22" name="TextBox 21">
            <a:extLst>
              <a:ext uri="{FF2B5EF4-FFF2-40B4-BE49-F238E27FC236}">
                <a16:creationId xmlns:a16="http://schemas.microsoft.com/office/drawing/2014/main" id="{2A68E134-4CA2-8EA8-A169-887F385A5044}"/>
              </a:ext>
            </a:extLst>
          </p:cNvPr>
          <p:cNvSpPr txBox="1"/>
          <p:nvPr/>
        </p:nvSpPr>
        <p:spPr>
          <a:xfrm>
            <a:off x="3429000" y="1914346"/>
            <a:ext cx="12108393" cy="6124754"/>
          </a:xfrm>
          <a:prstGeom prst="rect">
            <a:avLst/>
          </a:prstGeom>
          <a:noFill/>
        </p:spPr>
        <p:txBody>
          <a:bodyPr wrap="square">
            <a:spAutoFit/>
          </a:bodyPr>
          <a:lstStyle/>
          <a:p>
            <a:pPr algn="just">
              <a:buNone/>
            </a:pPr>
            <a:r>
              <a:rPr lang="en-US" sz="2800" dirty="0">
                <a:latin typeface="Times New Roman" panose="02020603050405020304" pitchFamily="18" charset="0"/>
                <a:cs typeface="Times New Roman" panose="02020603050405020304" pitchFamily="18" charset="0"/>
              </a:rPr>
              <a:t>Mental health issues such as stress, anxiety, sadness, and emotional fatigue are increasing rapidly, but many people hesitate to openly express their feelings or seek professional help due to social stigma, lack of accessibility, or high costs. Existing mental health chatbots primarily rely on text-based interaction, which fails to accurately understand a user’s true emotional state.</a:t>
            </a:r>
          </a:p>
          <a:p>
            <a:pPr algn="just">
              <a:buNone/>
            </a:pPr>
            <a:endParaRPr lang="en-US" sz="2800" dirty="0">
              <a:latin typeface="Times New Roman" panose="02020603050405020304" pitchFamily="18" charset="0"/>
              <a:cs typeface="Times New Roman" panose="02020603050405020304" pitchFamily="18" charset="0"/>
            </a:endParaRPr>
          </a:p>
          <a:p>
            <a:pPr algn="just">
              <a:buNone/>
            </a:pPr>
            <a:r>
              <a:rPr lang="en-US" sz="2800" dirty="0">
                <a:latin typeface="Times New Roman" panose="02020603050405020304" pitchFamily="18" charset="0"/>
                <a:cs typeface="Times New Roman" panose="02020603050405020304" pitchFamily="18" charset="0"/>
              </a:rPr>
              <a:t>Human emotions are often reflected through </a:t>
            </a:r>
            <a:r>
              <a:rPr lang="en-US" sz="2800" b="1" dirty="0">
                <a:latin typeface="Times New Roman" panose="02020603050405020304" pitchFamily="18" charset="0"/>
                <a:cs typeface="Times New Roman" panose="02020603050405020304" pitchFamily="18" charset="0"/>
              </a:rPr>
              <a:t>facial expressions and voice tone</a:t>
            </a:r>
            <a:r>
              <a:rPr lang="en-US" sz="2800" dirty="0">
                <a:latin typeface="Times New Roman" panose="02020603050405020304" pitchFamily="18" charset="0"/>
                <a:cs typeface="Times New Roman" panose="02020603050405020304" pitchFamily="18" charset="0"/>
              </a:rPr>
              <a:t>, not just words. The absence of multimodal emotion analysis leads to incomplete emotional understanding and less effective support.</a:t>
            </a:r>
          </a:p>
          <a:p>
            <a:pPr algn="just">
              <a:buNone/>
            </a:pPr>
            <a:endParaRPr lang="en-US" sz="2800" dirty="0">
              <a:latin typeface="Times New Roman" panose="02020603050405020304" pitchFamily="18" charset="0"/>
              <a:cs typeface="Times New Roman" panose="02020603050405020304" pitchFamily="18" charset="0"/>
            </a:endParaRPr>
          </a:p>
          <a:p>
            <a:pPr algn="just">
              <a:buNone/>
            </a:pPr>
            <a:r>
              <a:rPr lang="en-US" sz="2800" dirty="0">
                <a:latin typeface="Times New Roman" panose="02020603050405020304" pitchFamily="18" charset="0"/>
                <a:cs typeface="Times New Roman" panose="02020603050405020304" pitchFamily="18" charset="0"/>
              </a:rPr>
              <a:t>Therefore, there is a need for an intelligent system that can </a:t>
            </a:r>
            <a:r>
              <a:rPr lang="en-US" sz="2800" b="1" dirty="0">
                <a:latin typeface="Times New Roman" panose="02020603050405020304" pitchFamily="18" charset="0"/>
                <a:cs typeface="Times New Roman" panose="02020603050405020304" pitchFamily="18" charset="0"/>
              </a:rPr>
              <a:t>automatically detect human emotions using facial expressions, voice signals, and conversational input</a:t>
            </a:r>
            <a:r>
              <a:rPr lang="en-US" sz="2800" dirty="0">
                <a:latin typeface="Times New Roman" panose="02020603050405020304" pitchFamily="18" charset="0"/>
                <a:cs typeface="Times New Roman" panose="02020603050405020304" pitchFamily="18" charset="0"/>
              </a:rPr>
              <a:t>, and provide </a:t>
            </a:r>
            <a:r>
              <a:rPr lang="en-US" sz="2800" b="1" dirty="0">
                <a:latin typeface="Times New Roman" panose="02020603050405020304" pitchFamily="18" charset="0"/>
                <a:cs typeface="Times New Roman" panose="02020603050405020304" pitchFamily="18" charset="0"/>
              </a:rPr>
              <a:t>empathetic, real-time, and accessible mental health support</a:t>
            </a:r>
            <a:r>
              <a:rPr lang="en-US" sz="2800" dirty="0">
                <a:latin typeface="Times New Roman" panose="02020603050405020304" pitchFamily="18" charset="0"/>
                <a:cs typeface="Times New Roman" panose="02020603050405020304" pitchFamily="18" charset="0"/>
              </a:rPr>
              <a:t> in a natural and user-friendly manner.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55EA3-8540-29E4-62B9-7B7AB7C7C6F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79FBB87-8D63-6DDB-DDC6-E8AA2DD62E7B}"/>
              </a:ext>
            </a:extLst>
          </p:cNvPr>
          <p:cNvGrpSpPr/>
          <p:nvPr/>
        </p:nvGrpSpPr>
        <p:grpSpPr>
          <a:xfrm>
            <a:off x="15245194" y="-1345629"/>
            <a:ext cx="3517329" cy="3517329"/>
            <a:chOff x="0" y="0"/>
            <a:chExt cx="812800" cy="812800"/>
          </a:xfrm>
        </p:grpSpPr>
        <p:sp>
          <p:nvSpPr>
            <p:cNvPr id="3" name="Freeform 3">
              <a:extLst>
                <a:ext uri="{FF2B5EF4-FFF2-40B4-BE49-F238E27FC236}">
                  <a16:creationId xmlns:a16="http://schemas.microsoft.com/office/drawing/2014/main" id="{057B2183-5883-6ED1-775B-7B2D6F74AC0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4" name="TextBox 4">
              <a:extLst>
                <a:ext uri="{FF2B5EF4-FFF2-40B4-BE49-F238E27FC236}">
                  <a16:creationId xmlns:a16="http://schemas.microsoft.com/office/drawing/2014/main" id="{AFF0A31C-C74E-E89E-80FB-97F07C4DF6A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D384BF75-4A3A-713A-6EBB-273A76ED852C}"/>
              </a:ext>
            </a:extLst>
          </p:cNvPr>
          <p:cNvGrpSpPr/>
          <p:nvPr/>
        </p:nvGrpSpPr>
        <p:grpSpPr>
          <a:xfrm>
            <a:off x="5129662" y="7824967"/>
            <a:ext cx="8028675" cy="8028675"/>
            <a:chOff x="0" y="0"/>
            <a:chExt cx="812800" cy="812800"/>
          </a:xfrm>
        </p:grpSpPr>
        <p:sp>
          <p:nvSpPr>
            <p:cNvPr id="6" name="Freeform 6">
              <a:extLst>
                <a:ext uri="{FF2B5EF4-FFF2-40B4-BE49-F238E27FC236}">
                  <a16:creationId xmlns:a16="http://schemas.microsoft.com/office/drawing/2014/main" id="{4858C9D0-5FE7-8DE5-B8B2-F874486B31A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7" name="TextBox 7">
              <a:extLst>
                <a:ext uri="{FF2B5EF4-FFF2-40B4-BE49-F238E27FC236}">
                  <a16:creationId xmlns:a16="http://schemas.microsoft.com/office/drawing/2014/main" id="{9701D9FD-2E68-ED58-73F6-AD5867A378B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514ECA2F-6D94-9AC4-B2D7-64233180D6E6}"/>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IN"/>
          </a:p>
        </p:txBody>
      </p:sp>
      <p:grpSp>
        <p:nvGrpSpPr>
          <p:cNvPr id="9" name="Group 9">
            <a:extLst>
              <a:ext uri="{FF2B5EF4-FFF2-40B4-BE49-F238E27FC236}">
                <a16:creationId xmlns:a16="http://schemas.microsoft.com/office/drawing/2014/main" id="{E3A99CB3-4F7E-B4C8-C9D0-078965F7F209}"/>
              </a:ext>
            </a:extLst>
          </p:cNvPr>
          <p:cNvGrpSpPr/>
          <p:nvPr/>
        </p:nvGrpSpPr>
        <p:grpSpPr>
          <a:xfrm>
            <a:off x="13276242" y="-767852"/>
            <a:ext cx="1586288" cy="1586288"/>
            <a:chOff x="0" y="0"/>
            <a:chExt cx="812800" cy="812800"/>
          </a:xfrm>
        </p:grpSpPr>
        <p:sp>
          <p:nvSpPr>
            <p:cNvPr id="10" name="Freeform 10">
              <a:extLst>
                <a:ext uri="{FF2B5EF4-FFF2-40B4-BE49-F238E27FC236}">
                  <a16:creationId xmlns:a16="http://schemas.microsoft.com/office/drawing/2014/main" id="{3DF25455-1F12-59B4-ED70-A4F4C11A03A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11" name="TextBox 11">
              <a:extLst>
                <a:ext uri="{FF2B5EF4-FFF2-40B4-BE49-F238E27FC236}">
                  <a16:creationId xmlns:a16="http://schemas.microsoft.com/office/drawing/2014/main" id="{EC4ACB53-34B7-CDC4-9582-9783A720CC1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F3A6520F-A4A4-49A0-A2AF-6056224E7F1E}"/>
              </a:ext>
            </a:extLst>
          </p:cNvPr>
          <p:cNvSpPr txBox="1"/>
          <p:nvPr/>
        </p:nvSpPr>
        <p:spPr>
          <a:xfrm>
            <a:off x="4579025" y="-11887"/>
            <a:ext cx="8807832" cy="1222964"/>
          </a:xfrm>
          <a:prstGeom prst="rect">
            <a:avLst/>
          </a:prstGeom>
        </p:spPr>
        <p:txBody>
          <a:bodyPr lIns="0" tIns="0" rIns="0" bIns="0" rtlCol="0" anchor="t">
            <a:spAutoFit/>
          </a:bodyPr>
          <a:lstStyle/>
          <a:p>
            <a:pPr algn="just">
              <a:lnSpc>
                <a:spcPts val="10500"/>
              </a:lnSpc>
            </a:pPr>
            <a:r>
              <a:rPr lang="en-US" sz="6000" b="1" dirty="0">
                <a:solidFill>
                  <a:srgbClr val="2E3A44"/>
                </a:solidFill>
                <a:latin typeface="Times New Roman" panose="02020603050405020304" pitchFamily="18" charset="0"/>
                <a:ea typeface="Nirand Bold"/>
                <a:cs typeface="Times New Roman" panose="02020603050405020304" pitchFamily="18" charset="0"/>
                <a:sym typeface="Nirand Bold"/>
              </a:rPr>
              <a:t>SOLUTION IDEA</a:t>
            </a:r>
          </a:p>
        </p:txBody>
      </p:sp>
      <p:sp>
        <p:nvSpPr>
          <p:cNvPr id="22" name="TextBox 21">
            <a:extLst>
              <a:ext uri="{FF2B5EF4-FFF2-40B4-BE49-F238E27FC236}">
                <a16:creationId xmlns:a16="http://schemas.microsoft.com/office/drawing/2014/main" id="{CE961D21-9EC8-702C-D89F-FC55263F90FD}"/>
              </a:ext>
            </a:extLst>
          </p:cNvPr>
          <p:cNvSpPr txBox="1"/>
          <p:nvPr/>
        </p:nvSpPr>
        <p:spPr>
          <a:xfrm>
            <a:off x="1790151" y="1646358"/>
            <a:ext cx="14211849" cy="6986528"/>
          </a:xfrm>
          <a:prstGeom prst="rect">
            <a:avLst/>
          </a:prstGeom>
          <a:noFill/>
        </p:spPr>
        <p:txBody>
          <a:bodyPr wrap="square">
            <a:spAutoFit/>
          </a:bodyPr>
          <a:lstStyle/>
          <a:p>
            <a:pPr algn="just">
              <a:buNone/>
            </a:pPr>
            <a:r>
              <a:rPr lang="en-US" sz="2800" dirty="0">
                <a:latin typeface="Times New Roman" panose="02020603050405020304" pitchFamily="18" charset="0"/>
                <a:cs typeface="Times New Roman" panose="02020603050405020304" pitchFamily="18" charset="0"/>
              </a:rPr>
              <a:t>The proposed solution, </a:t>
            </a:r>
            <a:r>
              <a:rPr lang="en-US" sz="2800" b="1" dirty="0">
                <a:latin typeface="Times New Roman" panose="02020603050405020304" pitchFamily="18" charset="0"/>
                <a:cs typeface="Times New Roman" panose="02020603050405020304" pitchFamily="18" charset="0"/>
              </a:rPr>
              <a:t>MAITRI (Mental AI Therapeutic Response Interface)</a:t>
            </a:r>
            <a:r>
              <a:rPr lang="en-US" sz="2800" dirty="0">
                <a:latin typeface="Times New Roman" panose="02020603050405020304" pitchFamily="18" charset="0"/>
                <a:cs typeface="Times New Roman" panose="02020603050405020304" pitchFamily="18" charset="0"/>
              </a:rPr>
              <a:t>, is a smart mental health support system designed to understand and respond to human emotions using </a:t>
            </a:r>
            <a:r>
              <a:rPr lang="en-US" sz="2800" b="1" dirty="0">
                <a:latin typeface="Times New Roman" panose="02020603050405020304" pitchFamily="18" charset="0"/>
                <a:cs typeface="Times New Roman" panose="02020603050405020304" pitchFamily="18" charset="0"/>
              </a:rPr>
              <a:t>artificial intelligence and deep learning techniques</a:t>
            </a:r>
            <a:r>
              <a:rPr lang="en-US" sz="2800" dirty="0">
                <a:latin typeface="Times New Roman" panose="02020603050405020304" pitchFamily="18" charset="0"/>
                <a:cs typeface="Times New Roman" panose="02020603050405020304" pitchFamily="18" charset="0"/>
              </a:rPr>
              <a:t>. Instead of relying only on text input, MAITRI follows a </a:t>
            </a:r>
            <a:r>
              <a:rPr lang="en-US" sz="2800" b="1" dirty="0">
                <a:latin typeface="Times New Roman" panose="02020603050405020304" pitchFamily="18" charset="0"/>
                <a:cs typeface="Times New Roman" panose="02020603050405020304" pitchFamily="18" charset="0"/>
              </a:rPr>
              <a:t>multimodal approach</a:t>
            </a:r>
            <a:r>
              <a:rPr lang="en-US" sz="2800" dirty="0">
                <a:latin typeface="Times New Roman" panose="02020603050405020304" pitchFamily="18" charset="0"/>
                <a:cs typeface="Times New Roman" panose="02020603050405020304" pitchFamily="18" charset="0"/>
              </a:rPr>
              <a:t> by analyzing emotions through </a:t>
            </a:r>
            <a:r>
              <a:rPr lang="en-US" sz="2800" b="1" dirty="0">
                <a:latin typeface="Times New Roman" panose="02020603050405020304" pitchFamily="18" charset="0"/>
                <a:cs typeface="Times New Roman" panose="02020603050405020304" pitchFamily="18" charset="0"/>
              </a:rPr>
              <a:t>facial expressions, voice signals, and chat-based user interaction</a:t>
            </a:r>
            <a:r>
              <a:rPr lang="en-US" sz="2800" dirty="0">
                <a:latin typeface="Times New Roman" panose="02020603050405020304" pitchFamily="18" charset="0"/>
                <a:cs typeface="Times New Roman" panose="02020603050405020304" pitchFamily="18" charset="0"/>
              </a:rPr>
              <a:t>.</a:t>
            </a:r>
          </a:p>
          <a:p>
            <a:pPr algn="just">
              <a:buNone/>
            </a:pPr>
            <a:endParaRPr lang="en-US" sz="2800" dirty="0">
              <a:latin typeface="Times New Roman" panose="02020603050405020304" pitchFamily="18" charset="0"/>
              <a:cs typeface="Times New Roman" panose="02020603050405020304" pitchFamily="18" charset="0"/>
            </a:endParaRPr>
          </a:p>
          <a:p>
            <a:pPr algn="just">
              <a:buNone/>
            </a:pPr>
            <a:r>
              <a:rPr lang="en-US" sz="2800" dirty="0">
                <a:latin typeface="Times New Roman" panose="02020603050405020304" pitchFamily="18" charset="0"/>
                <a:cs typeface="Times New Roman" panose="02020603050405020304" pitchFamily="18" charset="0"/>
              </a:rPr>
              <a:t>Facial emotions are detected using a </a:t>
            </a:r>
            <a:r>
              <a:rPr lang="en-US" sz="2800" b="1" dirty="0">
                <a:latin typeface="Times New Roman" panose="02020603050405020304" pitchFamily="18" charset="0"/>
                <a:cs typeface="Times New Roman" panose="02020603050405020304" pitchFamily="18" charset="0"/>
              </a:rPr>
              <a:t>Convolutional Neural Network (CNN)</a:t>
            </a:r>
            <a:r>
              <a:rPr lang="en-US" sz="2800" dirty="0">
                <a:latin typeface="Times New Roman" panose="02020603050405020304" pitchFamily="18" charset="0"/>
                <a:cs typeface="Times New Roman" panose="02020603050405020304" pitchFamily="18" charset="0"/>
              </a:rPr>
              <a:t>, while voice emotions are analyzed using a </a:t>
            </a:r>
            <a:r>
              <a:rPr lang="en-US" sz="2800" b="1" dirty="0" err="1">
                <a:latin typeface="Times New Roman" panose="02020603050405020304" pitchFamily="18" charset="0"/>
                <a:cs typeface="Times New Roman" panose="02020603050405020304" pitchFamily="18" charset="0"/>
              </a:rPr>
              <a:t>HuBERT</a:t>
            </a:r>
            <a:r>
              <a:rPr lang="en-US" sz="2800" b="1" dirty="0">
                <a:latin typeface="Times New Roman" panose="02020603050405020304" pitchFamily="18" charset="0"/>
                <a:cs typeface="Times New Roman" panose="02020603050405020304" pitchFamily="18" charset="0"/>
              </a:rPr>
              <a:t>-based deep learning model</a:t>
            </a:r>
            <a:r>
              <a:rPr lang="en-US" sz="2800" dirty="0">
                <a:latin typeface="Times New Roman" panose="02020603050405020304" pitchFamily="18" charset="0"/>
                <a:cs typeface="Times New Roman" panose="02020603050405020304" pitchFamily="18" charset="0"/>
              </a:rPr>
              <a:t> that captures speech tone, pitch, and emotional patterns. In addition, the chat module allows users to express their feelings through a mood check-in form, which is processed by an </a:t>
            </a:r>
            <a:r>
              <a:rPr lang="en-US" sz="2800" b="1" dirty="0">
                <a:latin typeface="Times New Roman" panose="02020603050405020304" pitchFamily="18" charset="0"/>
                <a:cs typeface="Times New Roman" panose="02020603050405020304" pitchFamily="18" charset="0"/>
              </a:rPr>
              <a:t>AI language model</a:t>
            </a:r>
            <a:r>
              <a:rPr lang="en-US" sz="2800" dirty="0">
                <a:latin typeface="Times New Roman" panose="02020603050405020304" pitchFamily="18" charset="0"/>
                <a:cs typeface="Times New Roman" panose="02020603050405020304" pitchFamily="18" charset="0"/>
              </a:rPr>
              <a:t> to understand emotional context.</a:t>
            </a:r>
          </a:p>
          <a:p>
            <a:pPr algn="just">
              <a:buNone/>
            </a:pPr>
            <a:endParaRPr lang="en-US" sz="2800" dirty="0">
              <a:latin typeface="Times New Roman" panose="02020603050405020304" pitchFamily="18" charset="0"/>
              <a:cs typeface="Times New Roman" panose="02020603050405020304" pitchFamily="18" charset="0"/>
            </a:endParaRPr>
          </a:p>
          <a:p>
            <a:pPr algn="just">
              <a:buNone/>
            </a:pPr>
            <a:r>
              <a:rPr lang="en-US" sz="2800" dirty="0">
                <a:latin typeface="Times New Roman" panose="02020603050405020304" pitchFamily="18" charset="0"/>
                <a:cs typeface="Times New Roman" panose="02020603050405020304" pitchFamily="18" charset="0"/>
              </a:rPr>
              <a:t>By combining emotional insights from all three modules, MAITRI generates </a:t>
            </a:r>
            <a:r>
              <a:rPr lang="en-US" sz="2800" b="1" dirty="0">
                <a:latin typeface="Times New Roman" panose="02020603050405020304" pitchFamily="18" charset="0"/>
                <a:cs typeface="Times New Roman" panose="02020603050405020304" pitchFamily="18" charset="0"/>
              </a:rPr>
              <a:t>empathetic, personalized, and real-time responses</a:t>
            </a:r>
            <a:r>
              <a:rPr lang="en-US" sz="2800" dirty="0">
                <a:latin typeface="Times New Roman" panose="02020603050405020304" pitchFamily="18" charset="0"/>
                <a:cs typeface="Times New Roman" panose="02020603050405020304" pitchFamily="18" charset="0"/>
              </a:rPr>
              <a:t> in natural Hinglish language. This solution aims to make mental health support </a:t>
            </a:r>
            <a:r>
              <a:rPr lang="en-US" sz="2800" b="1" dirty="0">
                <a:latin typeface="Times New Roman" panose="02020603050405020304" pitchFamily="18" charset="0"/>
                <a:cs typeface="Times New Roman" panose="02020603050405020304" pitchFamily="18" charset="0"/>
              </a:rPr>
              <a:t>accessible, user-friendly, and emotionally intelligent</a:t>
            </a:r>
            <a:r>
              <a:rPr lang="en-US" sz="2800" dirty="0">
                <a:latin typeface="Times New Roman" panose="02020603050405020304" pitchFamily="18" charset="0"/>
                <a:cs typeface="Times New Roman" panose="02020603050405020304" pitchFamily="18" charset="0"/>
              </a:rPr>
              <a:t>, helping users feel understood and supported without fear of judgment.</a:t>
            </a:r>
          </a:p>
        </p:txBody>
      </p:sp>
    </p:spTree>
    <p:extLst>
      <p:ext uri="{BB962C8B-B14F-4D97-AF65-F5344CB8AC3E}">
        <p14:creationId xmlns:p14="http://schemas.microsoft.com/office/powerpoint/2010/main" val="1276205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442612" y="394769"/>
            <a:ext cx="6880458" cy="688045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523108" y="2540483"/>
            <a:ext cx="3517329" cy="351732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51277" y="9486900"/>
            <a:ext cx="16185445" cy="0"/>
          </a:xfrm>
          <a:prstGeom prst="line">
            <a:avLst/>
          </a:prstGeom>
          <a:ln w="38100" cap="flat">
            <a:solidFill>
              <a:srgbClr val="2E3A44"/>
            </a:solidFill>
            <a:prstDash val="solid"/>
            <a:headEnd type="oval" w="lg" len="lg"/>
            <a:tailEnd type="oval" w="lg" len="lg"/>
          </a:ln>
        </p:spPr>
        <p:txBody>
          <a:bodyPr/>
          <a:lstStyle/>
          <a:p>
            <a:endParaRPr lang="en-IN"/>
          </a:p>
        </p:txBody>
      </p:sp>
      <p:grpSp>
        <p:nvGrpSpPr>
          <p:cNvPr id="9" name="Group 9"/>
          <p:cNvGrpSpPr/>
          <p:nvPr/>
        </p:nvGrpSpPr>
        <p:grpSpPr>
          <a:xfrm>
            <a:off x="-557588" y="7275227"/>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7">
            <a:extLst>
              <a:ext uri="{FF2B5EF4-FFF2-40B4-BE49-F238E27FC236}">
                <a16:creationId xmlns:a16="http://schemas.microsoft.com/office/drawing/2014/main" id="{A6B5EAD7-72E6-935D-7DC2-F807A6941115}"/>
              </a:ext>
            </a:extLst>
          </p:cNvPr>
          <p:cNvSpPr txBox="1"/>
          <p:nvPr/>
        </p:nvSpPr>
        <p:spPr>
          <a:xfrm>
            <a:off x="2684809" y="1427503"/>
            <a:ext cx="13357301" cy="7848302"/>
          </a:xfrm>
          <a:prstGeom prst="rect">
            <a:avLst/>
          </a:prstGeom>
          <a:noFill/>
        </p:spPr>
        <p:txBody>
          <a:bodyPr wrap="square">
            <a:spAutoFit/>
          </a:bodyPr>
          <a:lstStyle/>
          <a:p>
            <a:pPr algn="just">
              <a:buNone/>
            </a:pPr>
            <a:r>
              <a:rPr lang="en-US" sz="2400" dirty="0">
                <a:latin typeface="Times New Roman" panose="02020603050405020304" pitchFamily="18" charset="0"/>
                <a:cs typeface="Times New Roman" panose="02020603050405020304" pitchFamily="18" charset="0"/>
              </a:rPr>
              <a:t>The system architecture of </a:t>
            </a:r>
            <a:r>
              <a:rPr lang="en-US" sz="2400" b="1" dirty="0">
                <a:latin typeface="Times New Roman" panose="02020603050405020304" pitchFamily="18" charset="0"/>
                <a:cs typeface="Times New Roman" panose="02020603050405020304" pitchFamily="18" charset="0"/>
              </a:rPr>
              <a:t>MAITRI</a:t>
            </a:r>
            <a:r>
              <a:rPr lang="en-US" sz="2400" dirty="0">
                <a:latin typeface="Times New Roman" panose="02020603050405020304" pitchFamily="18" charset="0"/>
                <a:cs typeface="Times New Roman" panose="02020603050405020304" pitchFamily="18" charset="0"/>
              </a:rPr>
              <a:t> is designed using a </a:t>
            </a:r>
            <a:r>
              <a:rPr lang="en-US" sz="2400" b="1" dirty="0">
                <a:latin typeface="Times New Roman" panose="02020603050405020304" pitchFamily="18" charset="0"/>
                <a:cs typeface="Times New Roman" panose="02020603050405020304" pitchFamily="18" charset="0"/>
              </a:rPr>
              <a:t>modular and layered approach</a:t>
            </a:r>
            <a:r>
              <a:rPr lang="en-US" sz="2400" dirty="0">
                <a:latin typeface="Times New Roman" panose="02020603050405020304" pitchFamily="18" charset="0"/>
                <a:cs typeface="Times New Roman" panose="02020603050405020304" pitchFamily="18" charset="0"/>
              </a:rPr>
              <a:t>, where each emotion detection component works independently while being integrated through a centralized backend. This architecture ensures scalability, flexibility, and efficient real-time processing.</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At the </a:t>
            </a:r>
            <a:r>
              <a:rPr lang="en-US" sz="2400" b="1" dirty="0">
                <a:latin typeface="Times New Roman" panose="02020603050405020304" pitchFamily="18" charset="0"/>
                <a:cs typeface="Times New Roman" panose="02020603050405020304" pitchFamily="18" charset="0"/>
              </a:rPr>
              <a:t>frontend level</a:t>
            </a:r>
            <a:r>
              <a:rPr lang="en-US" sz="2400" dirty="0">
                <a:latin typeface="Times New Roman" panose="02020603050405020304" pitchFamily="18" charset="0"/>
                <a:cs typeface="Times New Roman" panose="02020603050405020304" pitchFamily="18" charset="0"/>
              </a:rPr>
              <a:t>, the user interacts with the system through a web-based interface built using </a:t>
            </a:r>
            <a:r>
              <a:rPr lang="en-US" sz="2400" b="1" dirty="0">
                <a:latin typeface="Times New Roman" panose="02020603050405020304" pitchFamily="18" charset="0"/>
                <a:cs typeface="Times New Roman" panose="02020603050405020304" pitchFamily="18" charset="0"/>
              </a:rPr>
              <a:t>HTML, CSS, and JavaScript</a:t>
            </a:r>
            <a:r>
              <a:rPr lang="en-US" sz="2400" dirty="0">
                <a:latin typeface="Times New Roman" panose="02020603050405020304" pitchFamily="18" charset="0"/>
                <a:cs typeface="Times New Roman" panose="02020603050405020304" pitchFamily="18" charset="0"/>
              </a:rPr>
              <a:t>. The interface allows users to provide input in three forms: webcam access for facial emotion detection, microphone access for voice emotion analysis, and a chat-based mood check-in form.</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backend layer</a:t>
            </a:r>
            <a:r>
              <a:rPr lang="en-US" sz="2400" dirty="0">
                <a:latin typeface="Times New Roman" panose="02020603050405020304" pitchFamily="18" charset="0"/>
                <a:cs typeface="Times New Roman" panose="02020603050405020304" pitchFamily="18" charset="0"/>
              </a:rPr>
              <a:t>, developed using </a:t>
            </a:r>
            <a:r>
              <a:rPr lang="en-US" sz="2400" b="1" dirty="0">
                <a:latin typeface="Times New Roman" panose="02020603050405020304" pitchFamily="18" charset="0"/>
                <a:cs typeface="Times New Roman" panose="02020603050405020304" pitchFamily="18" charset="0"/>
              </a:rPr>
              <a:t>Flask</a:t>
            </a:r>
            <a:r>
              <a:rPr lang="en-US" sz="2400" dirty="0">
                <a:latin typeface="Times New Roman" panose="02020603050405020304" pitchFamily="18" charset="0"/>
                <a:cs typeface="Times New Roman" panose="02020603050405020304" pitchFamily="18" charset="0"/>
              </a:rPr>
              <a:t>, handles user requests, routing, and communication between different modules. Each module processes its respective input:</a:t>
            </a:r>
          </a:p>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Face Emotion Module</a:t>
            </a:r>
            <a:r>
              <a:rPr lang="en-US" sz="2400" dirty="0">
                <a:latin typeface="Times New Roman" panose="02020603050405020304" pitchFamily="18" charset="0"/>
                <a:cs typeface="Times New Roman" panose="02020603050405020304" pitchFamily="18" charset="0"/>
              </a:rPr>
              <a:t> captures facial images and passes them to a CNN model for emotion prediction.</a:t>
            </a:r>
          </a:p>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Voice Emotion Module</a:t>
            </a:r>
            <a:r>
              <a:rPr lang="en-US" sz="2400" dirty="0">
                <a:latin typeface="Times New Roman" panose="02020603050405020304" pitchFamily="18" charset="0"/>
                <a:cs typeface="Times New Roman" panose="02020603050405020304" pitchFamily="18" charset="0"/>
              </a:rPr>
              <a:t> records audio input and analyzes it using a </a:t>
            </a:r>
            <a:r>
              <a:rPr lang="en-US" sz="2400" dirty="0" err="1">
                <a:latin typeface="Times New Roman" panose="02020603050405020304" pitchFamily="18" charset="0"/>
                <a:cs typeface="Times New Roman" panose="02020603050405020304" pitchFamily="18" charset="0"/>
              </a:rPr>
              <a:t>HuBERT</a:t>
            </a:r>
            <a:r>
              <a:rPr lang="en-US" sz="2400" dirty="0">
                <a:latin typeface="Times New Roman" panose="02020603050405020304" pitchFamily="18" charset="0"/>
                <a:cs typeface="Times New Roman" panose="02020603050405020304" pitchFamily="18" charset="0"/>
              </a:rPr>
              <a:t>-based deep learning model.</a:t>
            </a:r>
          </a:p>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Chat Module</a:t>
            </a:r>
            <a:r>
              <a:rPr lang="en-US" sz="2400" dirty="0">
                <a:latin typeface="Times New Roman" panose="02020603050405020304" pitchFamily="18" charset="0"/>
                <a:cs typeface="Times New Roman" panose="02020603050405020304" pitchFamily="18" charset="0"/>
              </a:rPr>
              <a:t> sends user mood data to an AI language model for emotional understanding.</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The detected emotions from all modules are then processed to generate a </a:t>
            </a:r>
            <a:r>
              <a:rPr lang="en-US" sz="2400" b="1" dirty="0">
                <a:latin typeface="Times New Roman" panose="02020603050405020304" pitchFamily="18" charset="0"/>
                <a:cs typeface="Times New Roman" panose="02020603050405020304" pitchFamily="18" charset="0"/>
              </a:rPr>
              <a:t>context-aware and empathetic response</a:t>
            </a:r>
            <a:r>
              <a:rPr lang="en-US" sz="2400" dirty="0">
                <a:latin typeface="Times New Roman" panose="02020603050405020304" pitchFamily="18" charset="0"/>
                <a:cs typeface="Times New Roman" panose="02020603050405020304" pitchFamily="18" charset="0"/>
              </a:rPr>
              <a:t>, which is sent back to the frontend and displayed to the user in real time.</a:t>
            </a:r>
          </a:p>
          <a:p>
            <a:pPr algn="just">
              <a:buNone/>
            </a:pPr>
            <a:r>
              <a:rPr lang="en-US" sz="2400" dirty="0">
                <a:latin typeface="Times New Roman" panose="02020603050405020304" pitchFamily="18" charset="0"/>
                <a:cs typeface="Times New Roman" panose="02020603050405020304" pitchFamily="18" charset="0"/>
              </a:rPr>
              <a:t>This modular architecture allows MAITRI to efficiently combine </a:t>
            </a:r>
            <a:r>
              <a:rPr lang="en-US" sz="2400" b="1" dirty="0">
                <a:latin typeface="Times New Roman" panose="02020603050405020304" pitchFamily="18" charset="0"/>
                <a:cs typeface="Times New Roman" panose="02020603050405020304" pitchFamily="18" charset="0"/>
              </a:rPr>
              <a:t>face, voice, and text-based emotion analysis</a:t>
            </a:r>
            <a:r>
              <a:rPr lang="en-US" sz="2400" dirty="0">
                <a:latin typeface="Times New Roman" panose="02020603050405020304" pitchFamily="18" charset="0"/>
                <a:cs typeface="Times New Roman" panose="02020603050405020304" pitchFamily="18" charset="0"/>
              </a:rPr>
              <a:t>, making the system robust, extensible, and suitable for real-world mental health support applications.</a:t>
            </a:r>
          </a:p>
        </p:txBody>
      </p:sp>
      <p:sp>
        <p:nvSpPr>
          <p:cNvPr id="19" name="TextBox 18">
            <a:extLst>
              <a:ext uri="{FF2B5EF4-FFF2-40B4-BE49-F238E27FC236}">
                <a16:creationId xmlns:a16="http://schemas.microsoft.com/office/drawing/2014/main" id="{D938BD03-C9B1-CF7A-844E-12EBD6F1DCBF}"/>
              </a:ext>
            </a:extLst>
          </p:cNvPr>
          <p:cNvSpPr txBox="1"/>
          <p:nvPr/>
        </p:nvSpPr>
        <p:spPr>
          <a:xfrm>
            <a:off x="4579025" y="-11887"/>
            <a:ext cx="8807832" cy="1154162"/>
          </a:xfrm>
          <a:prstGeom prst="rect">
            <a:avLst/>
          </a:prstGeom>
        </p:spPr>
        <p:txBody>
          <a:bodyPr lIns="0" tIns="0" rIns="0" bIns="0" rtlCol="0" anchor="t">
            <a:spAutoFit/>
          </a:bodyPr>
          <a:lstStyle/>
          <a:p>
            <a:pPr algn="just">
              <a:lnSpc>
                <a:spcPts val="10500"/>
              </a:lnSpc>
            </a:pPr>
            <a:r>
              <a:rPr lang="en-US" sz="4800" b="1" dirty="0">
                <a:solidFill>
                  <a:srgbClr val="2E3A44"/>
                </a:solidFill>
                <a:latin typeface="Times New Roman" panose="02020603050405020304" pitchFamily="18" charset="0"/>
                <a:ea typeface="Nirand Bold"/>
                <a:cs typeface="Times New Roman" panose="02020603050405020304" pitchFamily="18" charset="0"/>
                <a:sym typeface="Nirand Bold"/>
              </a:rPr>
              <a:t>SYSTEM ARCHITECTURE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14FA0-CD5A-92B4-C7A4-C3A22C1993A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4C23AA3-EC2A-9392-E689-19BC31CDB758}"/>
              </a:ext>
            </a:extLst>
          </p:cNvPr>
          <p:cNvGrpSpPr/>
          <p:nvPr/>
        </p:nvGrpSpPr>
        <p:grpSpPr>
          <a:xfrm>
            <a:off x="12417447" y="7372841"/>
            <a:ext cx="8028675" cy="8028675"/>
            <a:chOff x="0" y="0"/>
            <a:chExt cx="812800" cy="812800"/>
          </a:xfrm>
        </p:grpSpPr>
        <p:sp>
          <p:nvSpPr>
            <p:cNvPr id="3" name="Freeform 3">
              <a:extLst>
                <a:ext uri="{FF2B5EF4-FFF2-40B4-BE49-F238E27FC236}">
                  <a16:creationId xmlns:a16="http://schemas.microsoft.com/office/drawing/2014/main" id="{3FFFCFF0-9703-540D-1FCA-907BA1449D1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4" name="TextBox 4">
              <a:extLst>
                <a:ext uri="{FF2B5EF4-FFF2-40B4-BE49-F238E27FC236}">
                  <a16:creationId xmlns:a16="http://schemas.microsoft.com/office/drawing/2014/main" id="{11DF1C42-8671-F548-A531-0BB8AA1E2CE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a:extLst>
              <a:ext uri="{FF2B5EF4-FFF2-40B4-BE49-F238E27FC236}">
                <a16:creationId xmlns:a16="http://schemas.microsoft.com/office/drawing/2014/main" id="{5BC2E87B-B38A-E2A2-A28E-4B53B289873A}"/>
              </a:ext>
            </a:extLst>
          </p:cNvPr>
          <p:cNvSpPr/>
          <p:nvPr/>
        </p:nvSpPr>
        <p:spPr>
          <a:xfrm>
            <a:off x="1051277" y="9563100"/>
            <a:ext cx="16185445" cy="0"/>
          </a:xfrm>
          <a:prstGeom prst="line">
            <a:avLst/>
          </a:prstGeom>
          <a:ln w="38100" cap="flat">
            <a:solidFill>
              <a:srgbClr val="2E3A44"/>
            </a:solidFill>
            <a:prstDash val="solid"/>
            <a:headEnd type="oval" w="lg" len="lg"/>
            <a:tailEnd type="oval" w="lg" len="lg"/>
          </a:ln>
        </p:spPr>
        <p:txBody>
          <a:bodyPr/>
          <a:lstStyle/>
          <a:p>
            <a:endParaRPr lang="en-IN" dirty="0"/>
          </a:p>
        </p:txBody>
      </p:sp>
      <p:grpSp>
        <p:nvGrpSpPr>
          <p:cNvPr id="6" name="Group 6">
            <a:extLst>
              <a:ext uri="{FF2B5EF4-FFF2-40B4-BE49-F238E27FC236}">
                <a16:creationId xmlns:a16="http://schemas.microsoft.com/office/drawing/2014/main" id="{9AB50C95-8B27-6671-D521-EDA9FFD4F7DB}"/>
              </a:ext>
            </a:extLst>
          </p:cNvPr>
          <p:cNvGrpSpPr/>
          <p:nvPr/>
        </p:nvGrpSpPr>
        <p:grpSpPr>
          <a:xfrm>
            <a:off x="322038" y="-1115182"/>
            <a:ext cx="2230365" cy="2230365"/>
            <a:chOff x="0" y="0"/>
            <a:chExt cx="812800" cy="812800"/>
          </a:xfrm>
        </p:grpSpPr>
        <p:sp>
          <p:nvSpPr>
            <p:cNvPr id="7" name="Freeform 7">
              <a:extLst>
                <a:ext uri="{FF2B5EF4-FFF2-40B4-BE49-F238E27FC236}">
                  <a16:creationId xmlns:a16="http://schemas.microsoft.com/office/drawing/2014/main" id="{4E980698-A35D-274D-47C1-8C09DCCF655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8" name="TextBox 8">
              <a:extLst>
                <a:ext uri="{FF2B5EF4-FFF2-40B4-BE49-F238E27FC236}">
                  <a16:creationId xmlns:a16="http://schemas.microsoft.com/office/drawing/2014/main" id="{FE96DC2F-EBEE-A5E1-9374-39A02B368E4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a:extLst>
              <a:ext uri="{FF2B5EF4-FFF2-40B4-BE49-F238E27FC236}">
                <a16:creationId xmlns:a16="http://schemas.microsoft.com/office/drawing/2014/main" id="{2BC054C0-21C2-94D5-6BBC-1B37E020F9C7}"/>
              </a:ext>
            </a:extLst>
          </p:cNvPr>
          <p:cNvSpPr txBox="1"/>
          <p:nvPr/>
        </p:nvSpPr>
        <p:spPr>
          <a:xfrm>
            <a:off x="3505200" y="-262295"/>
            <a:ext cx="11875096" cy="1154162"/>
          </a:xfrm>
          <a:prstGeom prst="rect">
            <a:avLst/>
          </a:prstGeom>
        </p:spPr>
        <p:txBody>
          <a:bodyPr wrap="square" lIns="0" tIns="0" rIns="0" bIns="0" rtlCol="0" anchor="t">
            <a:spAutoFit/>
          </a:bodyPr>
          <a:lstStyle/>
          <a:p>
            <a:pPr algn="just">
              <a:lnSpc>
                <a:spcPts val="10500"/>
              </a:lnSpc>
            </a:pPr>
            <a:r>
              <a:rPr lang="en-IN" sz="4800" b="1" dirty="0">
                <a:solidFill>
                  <a:srgbClr val="2E3A44"/>
                </a:solidFill>
                <a:latin typeface="Times New Roman" panose="02020603050405020304" pitchFamily="18" charset="0"/>
                <a:ea typeface="Nirand Bold"/>
                <a:cs typeface="Times New Roman" panose="02020603050405020304" pitchFamily="18" charset="0"/>
                <a:sym typeface="Nirand Bold"/>
              </a:rPr>
              <a:t>MAJOR MODULE DESCRIPTION</a:t>
            </a:r>
            <a:endParaRPr lang="en-US" sz="4800" b="1" dirty="0">
              <a:solidFill>
                <a:srgbClr val="2E3A44"/>
              </a:solidFill>
              <a:latin typeface="Times New Roman" panose="02020603050405020304" pitchFamily="18" charset="0"/>
              <a:ea typeface="Nirand Bold"/>
              <a:cs typeface="Times New Roman" panose="02020603050405020304" pitchFamily="18" charset="0"/>
              <a:sym typeface="Nirand Bold"/>
            </a:endParaRPr>
          </a:p>
        </p:txBody>
      </p:sp>
      <p:sp>
        <p:nvSpPr>
          <p:cNvPr id="33" name="TextBox 32">
            <a:extLst>
              <a:ext uri="{FF2B5EF4-FFF2-40B4-BE49-F238E27FC236}">
                <a16:creationId xmlns:a16="http://schemas.microsoft.com/office/drawing/2014/main" id="{E32BECA5-8D92-B887-B4F9-BB504E1FDBA3}"/>
              </a:ext>
            </a:extLst>
          </p:cNvPr>
          <p:cNvSpPr txBox="1"/>
          <p:nvPr/>
        </p:nvSpPr>
        <p:spPr>
          <a:xfrm>
            <a:off x="3276600" y="1856456"/>
            <a:ext cx="10224052" cy="7478970"/>
          </a:xfrm>
          <a:prstGeom prst="rect">
            <a:avLst/>
          </a:prstGeom>
          <a:noFill/>
        </p:spPr>
        <p:txBody>
          <a:bodyPr wrap="square">
            <a:spAutoFit/>
          </a:bodyPr>
          <a:lstStyle/>
          <a:p>
            <a:pPr algn="just">
              <a:buNone/>
            </a:pPr>
            <a:r>
              <a:rPr lang="en-IN" sz="2400" b="1" dirty="0">
                <a:latin typeface="Times New Roman" panose="02020603050405020304" pitchFamily="18" charset="0"/>
                <a:cs typeface="Times New Roman" panose="02020603050405020304" pitchFamily="18" charset="0"/>
              </a:rPr>
              <a:t>1. Face Emotion Detection Module</a:t>
            </a:r>
          </a:p>
          <a:p>
            <a:pPr algn="just">
              <a:buNone/>
            </a:pPr>
            <a:r>
              <a:rPr lang="en-IN" sz="2400" b="1" dirty="0">
                <a:latin typeface="Times New Roman" panose="02020603050405020304" pitchFamily="18" charset="0"/>
                <a:cs typeface="Times New Roman" panose="02020603050405020304" pitchFamily="18" charset="0"/>
              </a:rPr>
              <a:t>Main Features</a:t>
            </a: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Real-time </a:t>
            </a:r>
            <a:r>
              <a:rPr lang="en-IN" sz="2400" b="1" dirty="0">
                <a:latin typeface="Times New Roman" panose="02020603050405020304" pitchFamily="18" charset="0"/>
                <a:cs typeface="Times New Roman" panose="02020603050405020304" pitchFamily="18" charset="0"/>
              </a:rPr>
              <a:t>webcam-based facial emotion detection</a:t>
            </a: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Face ko detect </a:t>
            </a:r>
            <a:r>
              <a:rPr lang="en-IN" sz="2400" dirty="0" err="1">
                <a:latin typeface="Times New Roman" panose="02020603050405020304" pitchFamily="18" charset="0"/>
                <a:cs typeface="Times New Roman" panose="02020603050405020304" pitchFamily="18" charset="0"/>
              </a:rPr>
              <a:t>karne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ke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liye</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OpenCV Haar Cascade</a:t>
            </a:r>
            <a:r>
              <a:rPr lang="en-IN" sz="2400" dirty="0">
                <a:latin typeface="Times New Roman" panose="02020603050405020304" pitchFamily="18" charset="0"/>
                <a:cs typeface="Times New Roman" panose="02020603050405020304" pitchFamily="18" charset="0"/>
              </a:rPr>
              <a:t> use </a:t>
            </a:r>
            <a:r>
              <a:rPr lang="en-IN" sz="2400" dirty="0" err="1">
                <a:latin typeface="Times New Roman" panose="02020603050405020304" pitchFamily="18" charset="0"/>
                <a:cs typeface="Times New Roman" panose="02020603050405020304" pitchFamily="18" charset="0"/>
              </a:rPr>
              <a:t>hota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hai</a:t>
            </a: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CNN (Convolutional Neural Network)</a:t>
            </a:r>
            <a:r>
              <a:rPr lang="en-IN" sz="2400" dirty="0">
                <a:latin typeface="Times New Roman" panose="02020603050405020304" pitchFamily="18" charset="0"/>
                <a:cs typeface="Times New Roman" panose="02020603050405020304" pitchFamily="18" charset="0"/>
              </a:rPr>
              <a:t> se emotion predict </a:t>
            </a:r>
            <a:r>
              <a:rPr lang="en-IN" sz="2400" dirty="0" err="1">
                <a:latin typeface="Times New Roman" panose="02020603050405020304" pitchFamily="18" charset="0"/>
                <a:cs typeface="Times New Roman" panose="02020603050405020304" pitchFamily="18" charset="0"/>
              </a:rPr>
              <a:t>hota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hai</a:t>
            </a: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7 emotions detect </a:t>
            </a:r>
            <a:r>
              <a:rPr lang="en-IN" sz="2400" b="1" dirty="0" err="1">
                <a:latin typeface="Times New Roman" panose="02020603050405020304" pitchFamily="18" charset="0"/>
                <a:cs typeface="Times New Roman" panose="02020603050405020304" pitchFamily="18" charset="0"/>
              </a:rPr>
              <a:t>karta</a:t>
            </a:r>
            <a:r>
              <a:rPr lang="en-IN" sz="2400" b="1"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hai</a:t>
            </a:r>
            <a:r>
              <a:rPr lang="en-IN" sz="2400" dirty="0">
                <a:latin typeface="Times New Roman" panose="02020603050405020304" pitchFamily="18" charset="0"/>
                <a:cs typeface="Times New Roman" panose="02020603050405020304" pitchFamily="18" charset="0"/>
              </a:rPr>
              <a:t>:</a:t>
            </a:r>
          </a:p>
          <a:p>
            <a:pPr marL="800100" lvl="1"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Happy</a:t>
            </a:r>
          </a:p>
          <a:p>
            <a:pPr marL="800100" lvl="1"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Sad</a:t>
            </a:r>
          </a:p>
          <a:p>
            <a:pPr marL="800100" lvl="1"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Angry</a:t>
            </a:r>
          </a:p>
          <a:p>
            <a:pPr marL="800100" lvl="1"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Fear</a:t>
            </a:r>
          </a:p>
          <a:p>
            <a:pPr marL="800100" lvl="1"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Disgust</a:t>
            </a:r>
          </a:p>
          <a:p>
            <a:pPr marL="800100" lvl="1"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Surprise</a:t>
            </a:r>
          </a:p>
          <a:p>
            <a:pPr marL="800100" lvl="1"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Neutral</a:t>
            </a: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Emotion </a:t>
            </a:r>
            <a:r>
              <a:rPr lang="en-IN" sz="2400" dirty="0" err="1">
                <a:latin typeface="Times New Roman" panose="02020603050405020304" pitchFamily="18" charset="0"/>
                <a:cs typeface="Times New Roman" panose="02020603050405020304" pitchFamily="18" charset="0"/>
              </a:rPr>
              <a:t>ke</a:t>
            </a:r>
            <a:r>
              <a:rPr lang="en-IN" sz="2400" dirty="0">
                <a:latin typeface="Times New Roman" panose="02020603050405020304" pitchFamily="18" charset="0"/>
                <a:cs typeface="Times New Roman" panose="02020603050405020304" pitchFamily="18" charset="0"/>
              </a:rPr>
              <a:t> according </a:t>
            </a:r>
            <a:r>
              <a:rPr lang="en-IN" sz="2400" b="1" dirty="0">
                <a:latin typeface="Times New Roman" panose="02020603050405020304" pitchFamily="18" charset="0"/>
                <a:cs typeface="Times New Roman" panose="02020603050405020304" pitchFamily="18" charset="0"/>
              </a:rPr>
              <a:t>empathetic response</a:t>
            </a:r>
            <a:r>
              <a:rPr lang="en-IN" sz="2400" dirty="0">
                <a:latin typeface="Times New Roman" panose="02020603050405020304" pitchFamily="18" charset="0"/>
                <a:cs typeface="Times New Roman" panose="02020603050405020304" pitchFamily="18" charset="0"/>
              </a:rPr>
              <a:t> generate </a:t>
            </a:r>
            <a:r>
              <a:rPr lang="en-IN" sz="2400" dirty="0" err="1">
                <a:latin typeface="Times New Roman" panose="02020603050405020304" pitchFamily="18" charset="0"/>
                <a:cs typeface="Times New Roman" panose="02020603050405020304" pitchFamily="18" charset="0"/>
              </a:rPr>
              <a:t>karta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hai</a:t>
            </a: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Fast aur lightweight </a:t>
            </a:r>
            <a:r>
              <a:rPr lang="en-IN" sz="2400" dirty="0" err="1">
                <a:latin typeface="Times New Roman" panose="02020603050405020304" pitchFamily="18" charset="0"/>
                <a:cs typeface="Times New Roman" panose="02020603050405020304" pitchFamily="18" charset="0"/>
              </a:rPr>
              <a:t>hai</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isliye</a:t>
            </a:r>
            <a:r>
              <a:rPr lang="en-IN" sz="2400" dirty="0">
                <a:latin typeface="Times New Roman" panose="02020603050405020304" pitchFamily="18" charset="0"/>
                <a:cs typeface="Times New Roman" panose="02020603050405020304" pitchFamily="18" charset="0"/>
              </a:rPr>
              <a:t> real-time </a:t>
            </a:r>
            <a:r>
              <a:rPr lang="en-IN" sz="2400" dirty="0" err="1">
                <a:latin typeface="Times New Roman" panose="02020603050405020304" pitchFamily="18" charset="0"/>
                <a:cs typeface="Times New Roman" panose="02020603050405020304" pitchFamily="18" charset="0"/>
              </a:rPr>
              <a:t>kaam</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karta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hai</a:t>
            </a:r>
            <a:endParaRPr lang="en-IN" sz="2400" dirty="0">
              <a:latin typeface="Times New Roman" panose="02020603050405020304" pitchFamily="18" charset="0"/>
              <a:cs typeface="Times New Roman" panose="02020603050405020304" pitchFamily="18" charset="0"/>
            </a:endParaRPr>
          </a:p>
          <a:p>
            <a:pPr algn="just">
              <a:buNone/>
            </a:pPr>
            <a:r>
              <a:rPr lang="en-IN" sz="2400" b="1" dirty="0">
                <a:latin typeface="Times New Roman" panose="02020603050405020304" pitchFamily="18" charset="0"/>
                <a:cs typeface="Times New Roman" panose="02020603050405020304" pitchFamily="18" charset="0"/>
              </a:rPr>
              <a:t>Dataset Used</a:t>
            </a:r>
          </a:p>
          <a:p>
            <a:pPr marL="34290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FER2013 (Facial Expression Recognition 2013)</a:t>
            </a: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48×48 grayscale facial images</a:t>
            </a: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35,000+ images</a:t>
            </a: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Real-world facial expressions </a:t>
            </a:r>
            <a:r>
              <a:rPr lang="en-IN" sz="2400" dirty="0" err="1">
                <a:latin typeface="Times New Roman" panose="02020603050405020304" pitchFamily="18" charset="0"/>
                <a:cs typeface="Times New Roman" panose="02020603050405020304" pitchFamily="18" charset="0"/>
              </a:rPr>
              <a:t>ke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liye</a:t>
            </a:r>
            <a:r>
              <a:rPr lang="en-IN" sz="2400" dirty="0">
                <a:latin typeface="Times New Roman" panose="02020603050405020304" pitchFamily="18" charset="0"/>
                <a:cs typeface="Times New Roman" panose="02020603050405020304" pitchFamily="18" charset="0"/>
              </a:rPr>
              <a:t> industry-standard dataset</a:t>
            </a:r>
          </a:p>
        </p:txBody>
      </p:sp>
      <p:sp>
        <p:nvSpPr>
          <p:cNvPr id="34" name="TextBox 33">
            <a:extLst>
              <a:ext uri="{FF2B5EF4-FFF2-40B4-BE49-F238E27FC236}">
                <a16:creationId xmlns:a16="http://schemas.microsoft.com/office/drawing/2014/main" id="{15FB81E8-056F-3017-BF19-A76F21DCB62A}"/>
              </a:ext>
            </a:extLst>
          </p:cNvPr>
          <p:cNvSpPr txBox="1"/>
          <p:nvPr/>
        </p:nvSpPr>
        <p:spPr>
          <a:xfrm>
            <a:off x="2907704" y="1409700"/>
            <a:ext cx="3035896" cy="461665"/>
          </a:xfrm>
          <a:prstGeom prst="rect">
            <a:avLst/>
          </a:prstGeom>
          <a:noFill/>
        </p:spPr>
        <p:txBody>
          <a:bodyPr wrap="square" rtlCol="0">
            <a:spAutoFit/>
          </a:bodyPr>
          <a:lstStyle/>
          <a:p>
            <a:pPr algn="just"/>
            <a:r>
              <a:rPr lang="en-US" sz="2400" b="1" dirty="0">
                <a:solidFill>
                  <a:srgbClr val="002060"/>
                </a:solidFill>
                <a:latin typeface="Times New Roman" panose="02020603050405020304" pitchFamily="18" charset="0"/>
                <a:cs typeface="Times New Roman" panose="02020603050405020304" pitchFamily="18" charset="0"/>
              </a:rPr>
              <a:t>MAIN MODULES </a:t>
            </a:r>
            <a:endParaRPr lang="en-IN" sz="24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8629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E6E1D-DFD2-BD80-EE88-C5DA7381901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1910207-B4C7-381F-C211-8AE2DE3BEE99}"/>
              </a:ext>
            </a:extLst>
          </p:cNvPr>
          <p:cNvGrpSpPr/>
          <p:nvPr/>
        </p:nvGrpSpPr>
        <p:grpSpPr>
          <a:xfrm>
            <a:off x="12417447" y="7372841"/>
            <a:ext cx="8028675" cy="8028675"/>
            <a:chOff x="0" y="0"/>
            <a:chExt cx="812800" cy="812800"/>
          </a:xfrm>
        </p:grpSpPr>
        <p:sp>
          <p:nvSpPr>
            <p:cNvPr id="3" name="Freeform 3">
              <a:extLst>
                <a:ext uri="{FF2B5EF4-FFF2-40B4-BE49-F238E27FC236}">
                  <a16:creationId xmlns:a16="http://schemas.microsoft.com/office/drawing/2014/main" id="{F7D2C98B-8AAB-1AF8-B974-12E35119EBB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4" name="TextBox 4">
              <a:extLst>
                <a:ext uri="{FF2B5EF4-FFF2-40B4-BE49-F238E27FC236}">
                  <a16:creationId xmlns:a16="http://schemas.microsoft.com/office/drawing/2014/main" id="{C08E78C9-B729-BEF0-2E93-180BF324CE9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a:extLst>
              <a:ext uri="{FF2B5EF4-FFF2-40B4-BE49-F238E27FC236}">
                <a16:creationId xmlns:a16="http://schemas.microsoft.com/office/drawing/2014/main" id="{E8223F08-FC04-2D4A-F026-3B47727004B5}"/>
              </a:ext>
            </a:extLst>
          </p:cNvPr>
          <p:cNvSpPr/>
          <p:nvPr/>
        </p:nvSpPr>
        <p:spPr>
          <a:xfrm>
            <a:off x="1051277" y="9563100"/>
            <a:ext cx="16185445" cy="0"/>
          </a:xfrm>
          <a:prstGeom prst="line">
            <a:avLst/>
          </a:prstGeom>
          <a:ln w="38100" cap="flat">
            <a:solidFill>
              <a:srgbClr val="2E3A44"/>
            </a:solidFill>
            <a:prstDash val="solid"/>
            <a:headEnd type="oval" w="lg" len="lg"/>
            <a:tailEnd type="oval" w="lg" len="lg"/>
          </a:ln>
        </p:spPr>
        <p:txBody>
          <a:bodyPr/>
          <a:lstStyle/>
          <a:p>
            <a:endParaRPr lang="en-IN" dirty="0"/>
          </a:p>
        </p:txBody>
      </p:sp>
      <p:grpSp>
        <p:nvGrpSpPr>
          <p:cNvPr id="6" name="Group 6">
            <a:extLst>
              <a:ext uri="{FF2B5EF4-FFF2-40B4-BE49-F238E27FC236}">
                <a16:creationId xmlns:a16="http://schemas.microsoft.com/office/drawing/2014/main" id="{D65E51C4-E213-CAFA-8286-513B06EE0215}"/>
              </a:ext>
            </a:extLst>
          </p:cNvPr>
          <p:cNvGrpSpPr/>
          <p:nvPr/>
        </p:nvGrpSpPr>
        <p:grpSpPr>
          <a:xfrm>
            <a:off x="322038" y="-1115182"/>
            <a:ext cx="2230365" cy="2230365"/>
            <a:chOff x="0" y="0"/>
            <a:chExt cx="812800" cy="812800"/>
          </a:xfrm>
        </p:grpSpPr>
        <p:sp>
          <p:nvSpPr>
            <p:cNvPr id="7" name="Freeform 7">
              <a:extLst>
                <a:ext uri="{FF2B5EF4-FFF2-40B4-BE49-F238E27FC236}">
                  <a16:creationId xmlns:a16="http://schemas.microsoft.com/office/drawing/2014/main" id="{EE54E255-A436-47E2-FBE4-8F9AF7CBD77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8" name="TextBox 8">
              <a:extLst>
                <a:ext uri="{FF2B5EF4-FFF2-40B4-BE49-F238E27FC236}">
                  <a16:creationId xmlns:a16="http://schemas.microsoft.com/office/drawing/2014/main" id="{4B13BA8B-1CAD-570A-8B15-52BBE381097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3" name="TextBox 32">
            <a:extLst>
              <a:ext uri="{FF2B5EF4-FFF2-40B4-BE49-F238E27FC236}">
                <a16:creationId xmlns:a16="http://schemas.microsoft.com/office/drawing/2014/main" id="{9E146701-B2E5-CAAC-ED68-8757D27D9451}"/>
              </a:ext>
            </a:extLst>
          </p:cNvPr>
          <p:cNvSpPr txBox="1"/>
          <p:nvPr/>
        </p:nvSpPr>
        <p:spPr>
          <a:xfrm>
            <a:off x="3276600" y="2132935"/>
            <a:ext cx="10224052" cy="6001643"/>
          </a:xfrm>
          <a:prstGeom prst="rect">
            <a:avLst/>
          </a:prstGeom>
          <a:noFill/>
        </p:spPr>
        <p:txBody>
          <a:bodyPr wrap="square">
            <a:spAutoFit/>
          </a:bodyPr>
          <a:lstStyle/>
          <a:p>
            <a:pPr algn="just">
              <a:buNone/>
            </a:pPr>
            <a:r>
              <a:rPr lang="en-IN" sz="2400" b="1" dirty="0">
                <a:latin typeface="Times New Roman" panose="02020603050405020304" pitchFamily="18" charset="0"/>
                <a:cs typeface="Times New Roman" panose="02020603050405020304" pitchFamily="18" charset="0"/>
              </a:rPr>
              <a:t>2. Voice Emotion Analysis Module</a:t>
            </a:r>
          </a:p>
          <a:p>
            <a:pPr algn="just">
              <a:buNone/>
            </a:pPr>
            <a:r>
              <a:rPr lang="en-IN" sz="2400" b="1" dirty="0">
                <a:latin typeface="Times New Roman" panose="02020603050405020304" pitchFamily="18" charset="0"/>
                <a:cs typeface="Times New Roman" panose="02020603050405020304" pitchFamily="18" charset="0"/>
              </a:rPr>
              <a:t>Main Features</a:t>
            </a:r>
          </a:p>
          <a:p>
            <a:pPr algn="just">
              <a:buNone/>
            </a:pPr>
            <a:endParaRPr lang="en-IN" sz="24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Real-time voice recording</a:t>
            </a:r>
            <a:r>
              <a:rPr lang="en-IN" sz="2400" dirty="0">
                <a:latin typeface="Times New Roman" panose="02020603050405020304" pitchFamily="18" charset="0"/>
                <a:cs typeface="Times New Roman" panose="02020603050405020304" pitchFamily="18" charset="0"/>
              </a:rPr>
              <a:t> (3–5 seconds)</a:t>
            </a: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Speech </a:t>
            </a:r>
            <a:r>
              <a:rPr lang="en-IN" sz="2400" dirty="0" err="1">
                <a:latin typeface="Times New Roman" panose="02020603050405020304" pitchFamily="18" charset="0"/>
                <a:cs typeface="Times New Roman" panose="02020603050405020304" pitchFamily="18" charset="0"/>
              </a:rPr>
              <a:t>ke</a:t>
            </a:r>
            <a:r>
              <a:rPr lang="en-IN" sz="2400" dirty="0">
                <a:latin typeface="Times New Roman" panose="02020603050405020304" pitchFamily="18" charset="0"/>
                <a:cs typeface="Times New Roman" panose="02020603050405020304" pitchFamily="18" charset="0"/>
              </a:rPr>
              <a:t> tone, pitch, energy aur speed ko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karta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hai</a:t>
            </a: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400" b="1" dirty="0" err="1">
                <a:latin typeface="Times New Roman" panose="02020603050405020304" pitchFamily="18" charset="0"/>
                <a:cs typeface="Times New Roman" panose="02020603050405020304" pitchFamily="18" charset="0"/>
              </a:rPr>
              <a:t>HuBERT</a:t>
            </a:r>
            <a:r>
              <a:rPr lang="en-IN" sz="2400" b="1" dirty="0">
                <a:latin typeface="Times New Roman" panose="02020603050405020304" pitchFamily="18" charset="0"/>
                <a:cs typeface="Times New Roman" panose="02020603050405020304" pitchFamily="18" charset="0"/>
              </a:rPr>
              <a:t> (Hidden-Unit BERT)</a:t>
            </a:r>
            <a:r>
              <a:rPr lang="en-IN" sz="2400" dirty="0">
                <a:latin typeface="Times New Roman" panose="02020603050405020304" pitchFamily="18" charset="0"/>
                <a:cs typeface="Times New Roman" panose="02020603050405020304" pitchFamily="18" charset="0"/>
              </a:rPr>
              <a:t> deep learning model use </a:t>
            </a:r>
            <a:r>
              <a:rPr lang="en-IN" sz="2400" dirty="0" err="1">
                <a:latin typeface="Times New Roman" panose="02020603050405020304" pitchFamily="18" charset="0"/>
                <a:cs typeface="Times New Roman" panose="02020603050405020304" pitchFamily="18" charset="0"/>
              </a:rPr>
              <a:t>karta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hai</a:t>
            </a: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Background noise </a:t>
            </a:r>
            <a:r>
              <a:rPr lang="en-IN" sz="2400" dirty="0" err="1">
                <a:latin typeface="Times New Roman" panose="02020603050405020304" pitchFamily="18" charset="0"/>
                <a:cs typeface="Times New Roman" panose="02020603050405020304" pitchFamily="18" charset="0"/>
              </a:rPr>
              <a:t>ke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baad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bhi</a:t>
            </a:r>
            <a:r>
              <a:rPr lang="en-IN" sz="2400" dirty="0">
                <a:latin typeface="Times New Roman" panose="02020603050405020304" pitchFamily="18" charset="0"/>
                <a:cs typeface="Times New Roman" panose="02020603050405020304" pitchFamily="18" charset="0"/>
              </a:rPr>
              <a:t> emotion detect </a:t>
            </a:r>
            <a:r>
              <a:rPr lang="en-IN" sz="2400" dirty="0" err="1">
                <a:latin typeface="Times New Roman" panose="02020603050405020304" pitchFamily="18" charset="0"/>
                <a:cs typeface="Times New Roman" panose="02020603050405020304" pitchFamily="18" charset="0"/>
              </a:rPr>
              <a:t>kar</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sakta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hai</a:t>
            </a: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Voice se emotions detect </a:t>
            </a:r>
            <a:r>
              <a:rPr lang="en-IN" sz="2400" dirty="0" err="1">
                <a:latin typeface="Times New Roman" panose="02020603050405020304" pitchFamily="18" charset="0"/>
                <a:cs typeface="Times New Roman" panose="02020603050405020304" pitchFamily="18" charset="0"/>
              </a:rPr>
              <a:t>karta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hai</a:t>
            </a:r>
            <a:r>
              <a:rPr lang="en-IN" sz="2400" dirty="0">
                <a:latin typeface="Times New Roman" panose="02020603050405020304" pitchFamily="18" charset="0"/>
                <a:cs typeface="Times New Roman" panose="02020603050405020304" pitchFamily="18" charset="0"/>
              </a:rPr>
              <a:t> even agar words clear </a:t>
            </a:r>
            <a:r>
              <a:rPr lang="en-IN" sz="2400" dirty="0" err="1">
                <a:latin typeface="Times New Roman" panose="02020603050405020304" pitchFamily="18" charset="0"/>
                <a:cs typeface="Times New Roman" panose="02020603050405020304" pitchFamily="18" charset="0"/>
              </a:rPr>
              <a:t>na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ho</a:t>
            </a: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Emotion </a:t>
            </a:r>
            <a:r>
              <a:rPr lang="en-IN" sz="2400" dirty="0" err="1">
                <a:latin typeface="Times New Roman" panose="02020603050405020304" pitchFamily="18" charset="0"/>
                <a:cs typeface="Times New Roman" panose="02020603050405020304" pitchFamily="18" charset="0"/>
              </a:rPr>
              <a:t>ke</a:t>
            </a:r>
            <a:r>
              <a:rPr lang="en-IN" sz="2400" dirty="0">
                <a:latin typeface="Times New Roman" panose="02020603050405020304" pitchFamily="18" charset="0"/>
                <a:cs typeface="Times New Roman" panose="02020603050405020304" pitchFamily="18" charset="0"/>
              </a:rPr>
              <a:t> basis par </a:t>
            </a:r>
            <a:r>
              <a:rPr lang="en-IN" sz="2400" b="1" dirty="0">
                <a:latin typeface="Times New Roman" panose="02020603050405020304" pitchFamily="18" charset="0"/>
                <a:cs typeface="Times New Roman" panose="02020603050405020304" pitchFamily="18" charset="0"/>
              </a:rPr>
              <a:t>supportive Hinglish response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deta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hai</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buNone/>
            </a:pPr>
            <a:r>
              <a:rPr lang="en-IN" sz="2400" b="1" dirty="0">
                <a:latin typeface="Times New Roman" panose="02020603050405020304" pitchFamily="18" charset="0"/>
                <a:cs typeface="Times New Roman" panose="02020603050405020304" pitchFamily="18" charset="0"/>
              </a:rPr>
              <a:t>Dataset Used</a:t>
            </a:r>
          </a:p>
          <a:p>
            <a:pPr marL="34290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Speech Emotion Recognition (</a:t>
            </a:r>
            <a:r>
              <a:rPr lang="en-IN" sz="2400" b="1" dirty="0" err="1">
                <a:latin typeface="Times New Roman" panose="02020603050405020304" pitchFamily="18" charset="0"/>
                <a:cs typeface="Times New Roman" panose="02020603050405020304" pitchFamily="18" charset="0"/>
              </a:rPr>
              <a:t>en</a:t>
            </a:r>
            <a:r>
              <a:rPr lang="en-IN" sz="2400" b="1" dirty="0">
                <a:latin typeface="Times New Roman" panose="02020603050405020304" pitchFamily="18" charset="0"/>
                <a:cs typeface="Times New Roman" panose="02020603050405020304" pitchFamily="18" charset="0"/>
              </a:rPr>
              <a:t>)TESS Dataset</a:t>
            </a: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Custom Hinglish Voice Samples</a:t>
            </a: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Total 7442 audio samples</a:t>
            </a: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16kHz sampling rate</a:t>
            </a: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7 emotional categories</a:t>
            </a:r>
          </a:p>
        </p:txBody>
      </p:sp>
      <p:sp>
        <p:nvSpPr>
          <p:cNvPr id="34" name="TextBox 33">
            <a:extLst>
              <a:ext uri="{FF2B5EF4-FFF2-40B4-BE49-F238E27FC236}">
                <a16:creationId xmlns:a16="http://schemas.microsoft.com/office/drawing/2014/main" id="{0B565AE5-AEDF-0F9F-736F-3432C1680794}"/>
              </a:ext>
            </a:extLst>
          </p:cNvPr>
          <p:cNvSpPr txBox="1"/>
          <p:nvPr/>
        </p:nvSpPr>
        <p:spPr>
          <a:xfrm>
            <a:off x="2907704" y="1409700"/>
            <a:ext cx="3035896" cy="461665"/>
          </a:xfrm>
          <a:prstGeom prst="rect">
            <a:avLst/>
          </a:prstGeom>
          <a:noFill/>
        </p:spPr>
        <p:txBody>
          <a:bodyPr wrap="square" rtlCol="0">
            <a:spAutoFit/>
          </a:bodyPr>
          <a:lstStyle/>
          <a:p>
            <a:pPr algn="just"/>
            <a:r>
              <a:rPr lang="en-US" sz="2400" b="1" dirty="0">
                <a:solidFill>
                  <a:srgbClr val="002060"/>
                </a:solidFill>
                <a:latin typeface="Times New Roman" panose="02020603050405020304" pitchFamily="18" charset="0"/>
                <a:cs typeface="Times New Roman" panose="02020603050405020304" pitchFamily="18" charset="0"/>
              </a:rPr>
              <a:t>MAIN MODULES </a:t>
            </a:r>
            <a:endParaRPr lang="en-IN" sz="2400" b="1" dirty="0">
              <a:solidFill>
                <a:srgbClr val="002060"/>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287041C7-8EA6-3411-A99B-60AFB139551B}"/>
              </a:ext>
            </a:extLst>
          </p:cNvPr>
          <p:cNvPicPr>
            <a:picLocks noChangeAspect="1"/>
          </p:cNvPicPr>
          <p:nvPr/>
        </p:nvPicPr>
        <p:blipFill>
          <a:blip r:embed="rId2"/>
          <a:stretch>
            <a:fillRect/>
          </a:stretch>
        </p:blipFill>
        <p:spPr>
          <a:xfrm>
            <a:off x="3886200" y="5198"/>
            <a:ext cx="10224052" cy="1303628"/>
          </a:xfrm>
          <a:prstGeom prst="rect">
            <a:avLst/>
          </a:prstGeom>
        </p:spPr>
      </p:pic>
    </p:spTree>
    <p:extLst>
      <p:ext uri="{BB962C8B-B14F-4D97-AF65-F5344CB8AC3E}">
        <p14:creationId xmlns:p14="http://schemas.microsoft.com/office/powerpoint/2010/main" val="3308511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FE560-F256-8B08-AADF-71C6B792D70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BB3F297-A993-ADFF-F0D9-695AE7440838}"/>
              </a:ext>
            </a:extLst>
          </p:cNvPr>
          <p:cNvGrpSpPr/>
          <p:nvPr/>
        </p:nvGrpSpPr>
        <p:grpSpPr>
          <a:xfrm>
            <a:off x="12417447" y="7372841"/>
            <a:ext cx="8028675" cy="8028675"/>
            <a:chOff x="0" y="0"/>
            <a:chExt cx="812800" cy="812800"/>
          </a:xfrm>
        </p:grpSpPr>
        <p:sp>
          <p:nvSpPr>
            <p:cNvPr id="3" name="Freeform 3">
              <a:extLst>
                <a:ext uri="{FF2B5EF4-FFF2-40B4-BE49-F238E27FC236}">
                  <a16:creationId xmlns:a16="http://schemas.microsoft.com/office/drawing/2014/main" id="{02275497-4453-BD2B-E225-5624C79545C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4" name="TextBox 4">
              <a:extLst>
                <a:ext uri="{FF2B5EF4-FFF2-40B4-BE49-F238E27FC236}">
                  <a16:creationId xmlns:a16="http://schemas.microsoft.com/office/drawing/2014/main" id="{503E0A16-240E-9A05-764B-683750229AF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a:extLst>
              <a:ext uri="{FF2B5EF4-FFF2-40B4-BE49-F238E27FC236}">
                <a16:creationId xmlns:a16="http://schemas.microsoft.com/office/drawing/2014/main" id="{C314E8DC-C709-7645-C781-AB1776D88716}"/>
              </a:ext>
            </a:extLst>
          </p:cNvPr>
          <p:cNvSpPr/>
          <p:nvPr/>
        </p:nvSpPr>
        <p:spPr>
          <a:xfrm>
            <a:off x="914400" y="10020300"/>
            <a:ext cx="16185445" cy="0"/>
          </a:xfrm>
          <a:prstGeom prst="line">
            <a:avLst/>
          </a:prstGeom>
          <a:ln w="38100" cap="flat">
            <a:solidFill>
              <a:srgbClr val="2E3A44"/>
            </a:solidFill>
            <a:prstDash val="solid"/>
            <a:headEnd type="oval" w="lg" len="lg"/>
            <a:tailEnd type="oval" w="lg" len="lg"/>
          </a:ln>
        </p:spPr>
        <p:txBody>
          <a:bodyPr/>
          <a:lstStyle/>
          <a:p>
            <a:endParaRPr lang="en-IN" dirty="0"/>
          </a:p>
        </p:txBody>
      </p:sp>
      <p:grpSp>
        <p:nvGrpSpPr>
          <p:cNvPr id="6" name="Group 6">
            <a:extLst>
              <a:ext uri="{FF2B5EF4-FFF2-40B4-BE49-F238E27FC236}">
                <a16:creationId xmlns:a16="http://schemas.microsoft.com/office/drawing/2014/main" id="{F0C36938-DF90-8D00-6265-9A71227887F7}"/>
              </a:ext>
            </a:extLst>
          </p:cNvPr>
          <p:cNvGrpSpPr/>
          <p:nvPr/>
        </p:nvGrpSpPr>
        <p:grpSpPr>
          <a:xfrm>
            <a:off x="322038" y="-1115182"/>
            <a:ext cx="2230365" cy="2230365"/>
            <a:chOff x="0" y="0"/>
            <a:chExt cx="812800" cy="812800"/>
          </a:xfrm>
        </p:grpSpPr>
        <p:sp>
          <p:nvSpPr>
            <p:cNvPr id="7" name="Freeform 7">
              <a:extLst>
                <a:ext uri="{FF2B5EF4-FFF2-40B4-BE49-F238E27FC236}">
                  <a16:creationId xmlns:a16="http://schemas.microsoft.com/office/drawing/2014/main" id="{39523214-865F-0629-6918-CF72BC47E46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8" name="TextBox 8">
              <a:extLst>
                <a:ext uri="{FF2B5EF4-FFF2-40B4-BE49-F238E27FC236}">
                  <a16:creationId xmlns:a16="http://schemas.microsoft.com/office/drawing/2014/main" id="{85D8449D-D2C0-E98A-913E-980039577AD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a:extLst>
              <a:ext uri="{FF2B5EF4-FFF2-40B4-BE49-F238E27FC236}">
                <a16:creationId xmlns:a16="http://schemas.microsoft.com/office/drawing/2014/main" id="{6F02E10B-068F-A965-DA03-CE1FCB6D563B}"/>
              </a:ext>
            </a:extLst>
          </p:cNvPr>
          <p:cNvSpPr txBox="1"/>
          <p:nvPr/>
        </p:nvSpPr>
        <p:spPr>
          <a:xfrm>
            <a:off x="3505200" y="-262295"/>
            <a:ext cx="11875096" cy="1154162"/>
          </a:xfrm>
          <a:prstGeom prst="rect">
            <a:avLst/>
          </a:prstGeom>
        </p:spPr>
        <p:txBody>
          <a:bodyPr wrap="square" lIns="0" tIns="0" rIns="0" bIns="0" rtlCol="0" anchor="t">
            <a:spAutoFit/>
          </a:bodyPr>
          <a:lstStyle/>
          <a:p>
            <a:pPr algn="just">
              <a:lnSpc>
                <a:spcPts val="10500"/>
              </a:lnSpc>
            </a:pPr>
            <a:r>
              <a:rPr lang="en-IN" sz="4800" b="1" dirty="0">
                <a:solidFill>
                  <a:srgbClr val="2E3A44"/>
                </a:solidFill>
                <a:latin typeface="Times New Roman" panose="02020603050405020304" pitchFamily="18" charset="0"/>
                <a:ea typeface="Nirand Bold"/>
                <a:cs typeface="Times New Roman" panose="02020603050405020304" pitchFamily="18" charset="0"/>
                <a:sym typeface="Nirand Bold"/>
              </a:rPr>
              <a:t>MAJOR MODULE DESCRIPTION</a:t>
            </a:r>
            <a:endParaRPr lang="en-US" sz="4800" b="1" dirty="0">
              <a:solidFill>
                <a:srgbClr val="2E3A44"/>
              </a:solidFill>
              <a:latin typeface="Times New Roman" panose="02020603050405020304" pitchFamily="18" charset="0"/>
              <a:ea typeface="Nirand Bold"/>
              <a:cs typeface="Times New Roman" panose="02020603050405020304" pitchFamily="18" charset="0"/>
              <a:sym typeface="Nirand Bold"/>
            </a:endParaRPr>
          </a:p>
        </p:txBody>
      </p:sp>
      <p:sp>
        <p:nvSpPr>
          <p:cNvPr id="33" name="TextBox 32">
            <a:extLst>
              <a:ext uri="{FF2B5EF4-FFF2-40B4-BE49-F238E27FC236}">
                <a16:creationId xmlns:a16="http://schemas.microsoft.com/office/drawing/2014/main" id="{B38BEBD2-D2AD-ADCF-41B5-DD440CCA1E1F}"/>
              </a:ext>
            </a:extLst>
          </p:cNvPr>
          <p:cNvSpPr txBox="1"/>
          <p:nvPr/>
        </p:nvSpPr>
        <p:spPr>
          <a:xfrm>
            <a:off x="3276600" y="1871365"/>
            <a:ext cx="11353800" cy="7848302"/>
          </a:xfrm>
          <a:prstGeom prst="rect">
            <a:avLst/>
          </a:prstGeom>
          <a:noFill/>
        </p:spPr>
        <p:txBody>
          <a:bodyPr wrap="square">
            <a:spAutoFit/>
          </a:bodyPr>
          <a:lstStyle/>
          <a:p>
            <a:pPr algn="just">
              <a:buNone/>
            </a:pPr>
            <a:r>
              <a:rPr lang="en-IN" sz="2400" b="1" dirty="0">
                <a:latin typeface="Times New Roman" panose="02020603050405020304" pitchFamily="18" charset="0"/>
                <a:cs typeface="Times New Roman" panose="02020603050405020304" pitchFamily="18" charset="0"/>
              </a:rPr>
              <a:t>3. Chat / Mood Check-in Module</a:t>
            </a:r>
          </a:p>
          <a:p>
            <a:pPr algn="just">
              <a:buNone/>
            </a:pPr>
            <a:r>
              <a:rPr lang="en-IN" sz="2400" b="1" dirty="0">
                <a:latin typeface="Times New Roman" panose="02020603050405020304" pitchFamily="18" charset="0"/>
                <a:cs typeface="Times New Roman" panose="02020603050405020304" pitchFamily="18" charset="0"/>
              </a:rPr>
              <a:t>Main Features</a:t>
            </a: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Interactive </a:t>
            </a:r>
            <a:r>
              <a:rPr lang="en-IN" sz="2400" b="1" dirty="0">
                <a:latin typeface="Times New Roman" panose="02020603050405020304" pitchFamily="18" charset="0"/>
                <a:cs typeface="Times New Roman" panose="02020603050405020304" pitchFamily="18" charset="0"/>
              </a:rPr>
              <a:t>mood check-in form</a:t>
            </a: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User se:</a:t>
            </a:r>
          </a:p>
          <a:p>
            <a:pPr marL="800100" lvl="1"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Current mood</a:t>
            </a:r>
          </a:p>
          <a:p>
            <a:pPr marL="800100" lvl="1"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Intensity level (1–10)</a:t>
            </a:r>
          </a:p>
          <a:p>
            <a:pPr marL="800100" lvl="1"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Duration of feeling</a:t>
            </a:r>
          </a:p>
          <a:p>
            <a:pPr marL="800100" lvl="1"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Sleep quality</a:t>
            </a:r>
          </a:p>
          <a:p>
            <a:pPr marL="34290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AI Language Model (Google Gemini)</a:t>
            </a:r>
            <a:r>
              <a:rPr lang="en-IN" sz="2400" dirty="0">
                <a:latin typeface="Times New Roman" panose="02020603050405020304" pitchFamily="18" charset="0"/>
                <a:cs typeface="Times New Roman" panose="02020603050405020304" pitchFamily="18" charset="0"/>
              </a:rPr>
              <a:t> emotional context </a:t>
            </a:r>
            <a:r>
              <a:rPr lang="en-IN" sz="2400" dirty="0" err="1">
                <a:latin typeface="Times New Roman" panose="02020603050405020304" pitchFamily="18" charset="0"/>
                <a:cs typeface="Times New Roman" panose="02020603050405020304" pitchFamily="18" charset="0"/>
              </a:rPr>
              <a:t>samajhta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hai</a:t>
            </a: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Personalized:</a:t>
            </a:r>
          </a:p>
          <a:p>
            <a:pPr marL="800100" lvl="1"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Emotional analysis</a:t>
            </a:r>
          </a:p>
          <a:p>
            <a:pPr marL="800100" lvl="1"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Motivation</a:t>
            </a:r>
          </a:p>
          <a:p>
            <a:pPr marL="800100" lvl="1"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Self-care suggestions</a:t>
            </a: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Natural </a:t>
            </a:r>
            <a:r>
              <a:rPr lang="en-IN" sz="2400" b="1" dirty="0">
                <a:latin typeface="Times New Roman" panose="02020603050405020304" pitchFamily="18" charset="0"/>
                <a:cs typeface="Times New Roman" panose="02020603050405020304" pitchFamily="18" charset="0"/>
              </a:rPr>
              <a:t>Hinglish language</a:t>
            </a:r>
            <a:r>
              <a:rPr lang="en-IN" sz="2400" dirty="0">
                <a:latin typeface="Times New Roman" panose="02020603050405020304" pitchFamily="18" charset="0"/>
                <a:cs typeface="Times New Roman" panose="02020603050405020304" pitchFamily="18" charset="0"/>
              </a:rPr>
              <a:t> for better emotional connection</a:t>
            </a: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Judgment-free aur human-like interaction</a:t>
            </a:r>
          </a:p>
          <a:p>
            <a:pPr algn="just">
              <a:buNone/>
            </a:pPr>
            <a:r>
              <a:rPr lang="en-IN" sz="2400" b="1" dirty="0">
                <a:latin typeface="Times New Roman" panose="02020603050405020304" pitchFamily="18" charset="0"/>
                <a:cs typeface="Times New Roman" panose="02020603050405020304" pitchFamily="18" charset="0"/>
              </a:rPr>
              <a:t>Dataset / Training</a:t>
            </a: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Pre-trained </a:t>
            </a:r>
            <a:r>
              <a:rPr lang="en-IN" sz="2400" b="1" dirty="0">
                <a:latin typeface="Times New Roman" panose="02020603050405020304" pitchFamily="18" charset="0"/>
                <a:cs typeface="Times New Roman" panose="02020603050405020304" pitchFamily="18" charset="0"/>
              </a:rPr>
              <a:t>Google Gemini Large Language Model</a:t>
            </a: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Emotion understanding </a:t>
            </a:r>
            <a:r>
              <a:rPr lang="en-IN" sz="2400" dirty="0" err="1">
                <a:latin typeface="Times New Roman" panose="02020603050405020304" pitchFamily="18" charset="0"/>
                <a:cs typeface="Times New Roman" panose="02020603050405020304" pitchFamily="18" charset="0"/>
              </a:rPr>
              <a:t>ke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liye</a:t>
            </a:r>
            <a:r>
              <a:rPr lang="en-IN" sz="2400" dirty="0">
                <a:latin typeface="Times New Roman" panose="02020603050405020304" pitchFamily="18" charset="0"/>
                <a:cs typeface="Times New Roman" panose="02020603050405020304" pitchFamily="18" charset="0"/>
              </a:rPr>
              <a:t>:</a:t>
            </a:r>
          </a:p>
          <a:p>
            <a:pPr marL="800100" lvl="1"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Large-scale conversational data</a:t>
            </a:r>
          </a:p>
          <a:p>
            <a:pPr marL="800100" lvl="1"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Human emotional text patterns</a:t>
            </a: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Project-specific emotional prompts se tuned (prompt engineering)</a:t>
            </a:r>
          </a:p>
        </p:txBody>
      </p:sp>
      <p:sp>
        <p:nvSpPr>
          <p:cNvPr id="34" name="TextBox 33">
            <a:extLst>
              <a:ext uri="{FF2B5EF4-FFF2-40B4-BE49-F238E27FC236}">
                <a16:creationId xmlns:a16="http://schemas.microsoft.com/office/drawing/2014/main" id="{F8DB25C0-E81B-08C6-2800-0B0069C574A8}"/>
              </a:ext>
            </a:extLst>
          </p:cNvPr>
          <p:cNvSpPr txBox="1"/>
          <p:nvPr/>
        </p:nvSpPr>
        <p:spPr>
          <a:xfrm>
            <a:off x="2907704" y="1409700"/>
            <a:ext cx="3035896" cy="461665"/>
          </a:xfrm>
          <a:prstGeom prst="rect">
            <a:avLst/>
          </a:prstGeom>
          <a:noFill/>
        </p:spPr>
        <p:txBody>
          <a:bodyPr wrap="square" rtlCol="0">
            <a:spAutoFit/>
          </a:bodyPr>
          <a:lstStyle/>
          <a:p>
            <a:pPr algn="just"/>
            <a:r>
              <a:rPr lang="en-US" sz="2400" b="1" dirty="0">
                <a:solidFill>
                  <a:srgbClr val="002060"/>
                </a:solidFill>
                <a:latin typeface="Times New Roman" panose="02020603050405020304" pitchFamily="18" charset="0"/>
                <a:cs typeface="Times New Roman" panose="02020603050405020304" pitchFamily="18" charset="0"/>
              </a:rPr>
              <a:t>MAIN MODULES </a:t>
            </a:r>
            <a:endParaRPr lang="en-IN" sz="24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1653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5AE0-7BDD-FE33-FC89-0BD1236E452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CD39803-8C21-7863-8B1C-5F66DA26952A}"/>
              </a:ext>
            </a:extLst>
          </p:cNvPr>
          <p:cNvGrpSpPr/>
          <p:nvPr/>
        </p:nvGrpSpPr>
        <p:grpSpPr>
          <a:xfrm>
            <a:off x="12417447" y="7372841"/>
            <a:ext cx="8028675" cy="8028675"/>
            <a:chOff x="0" y="0"/>
            <a:chExt cx="812800" cy="812800"/>
          </a:xfrm>
        </p:grpSpPr>
        <p:sp>
          <p:nvSpPr>
            <p:cNvPr id="3" name="Freeform 3">
              <a:extLst>
                <a:ext uri="{FF2B5EF4-FFF2-40B4-BE49-F238E27FC236}">
                  <a16:creationId xmlns:a16="http://schemas.microsoft.com/office/drawing/2014/main" id="{C21C5010-FC96-A54E-5652-1067B8E2B74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4" name="TextBox 4">
              <a:extLst>
                <a:ext uri="{FF2B5EF4-FFF2-40B4-BE49-F238E27FC236}">
                  <a16:creationId xmlns:a16="http://schemas.microsoft.com/office/drawing/2014/main" id="{34C28D5C-3216-A0E6-00D9-F807B40E3BF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a:extLst>
              <a:ext uri="{FF2B5EF4-FFF2-40B4-BE49-F238E27FC236}">
                <a16:creationId xmlns:a16="http://schemas.microsoft.com/office/drawing/2014/main" id="{F2ACEF78-29E5-B73C-1733-2662F68FB8BF}"/>
              </a:ext>
            </a:extLst>
          </p:cNvPr>
          <p:cNvSpPr/>
          <p:nvPr/>
        </p:nvSpPr>
        <p:spPr>
          <a:xfrm>
            <a:off x="914400" y="10020300"/>
            <a:ext cx="16185445" cy="0"/>
          </a:xfrm>
          <a:prstGeom prst="line">
            <a:avLst/>
          </a:prstGeom>
          <a:ln w="38100" cap="flat">
            <a:solidFill>
              <a:srgbClr val="2E3A44"/>
            </a:solidFill>
            <a:prstDash val="solid"/>
            <a:headEnd type="oval" w="lg" len="lg"/>
            <a:tailEnd type="oval" w="lg" len="lg"/>
          </a:ln>
        </p:spPr>
        <p:txBody>
          <a:bodyPr/>
          <a:lstStyle/>
          <a:p>
            <a:endParaRPr lang="en-IN" dirty="0"/>
          </a:p>
        </p:txBody>
      </p:sp>
      <p:grpSp>
        <p:nvGrpSpPr>
          <p:cNvPr id="6" name="Group 6">
            <a:extLst>
              <a:ext uri="{FF2B5EF4-FFF2-40B4-BE49-F238E27FC236}">
                <a16:creationId xmlns:a16="http://schemas.microsoft.com/office/drawing/2014/main" id="{1D8DA24A-B5C3-3373-6C6D-2C9BDC3C5E5B}"/>
              </a:ext>
            </a:extLst>
          </p:cNvPr>
          <p:cNvGrpSpPr/>
          <p:nvPr/>
        </p:nvGrpSpPr>
        <p:grpSpPr>
          <a:xfrm>
            <a:off x="322038" y="-1115182"/>
            <a:ext cx="2230365" cy="2230365"/>
            <a:chOff x="0" y="0"/>
            <a:chExt cx="812800" cy="812800"/>
          </a:xfrm>
        </p:grpSpPr>
        <p:sp>
          <p:nvSpPr>
            <p:cNvPr id="7" name="Freeform 7">
              <a:extLst>
                <a:ext uri="{FF2B5EF4-FFF2-40B4-BE49-F238E27FC236}">
                  <a16:creationId xmlns:a16="http://schemas.microsoft.com/office/drawing/2014/main" id="{E98E3186-1A28-F446-AC0D-C105326EE7C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8" name="TextBox 8">
              <a:extLst>
                <a:ext uri="{FF2B5EF4-FFF2-40B4-BE49-F238E27FC236}">
                  <a16:creationId xmlns:a16="http://schemas.microsoft.com/office/drawing/2014/main" id="{77784349-CDE9-DACF-4BC1-E1C91A9B7C5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a:extLst>
              <a:ext uri="{FF2B5EF4-FFF2-40B4-BE49-F238E27FC236}">
                <a16:creationId xmlns:a16="http://schemas.microsoft.com/office/drawing/2014/main" id="{C36CC7CC-FD58-2142-3E6C-430CB6A1D631}"/>
              </a:ext>
            </a:extLst>
          </p:cNvPr>
          <p:cNvSpPr txBox="1"/>
          <p:nvPr/>
        </p:nvSpPr>
        <p:spPr>
          <a:xfrm>
            <a:off x="3205833" y="59065"/>
            <a:ext cx="11875096" cy="1151918"/>
          </a:xfrm>
          <a:prstGeom prst="rect">
            <a:avLst/>
          </a:prstGeom>
        </p:spPr>
        <p:txBody>
          <a:bodyPr wrap="square" lIns="0" tIns="0" rIns="0" bIns="0" rtlCol="0" anchor="t">
            <a:spAutoFit/>
          </a:bodyPr>
          <a:lstStyle/>
          <a:p>
            <a:pPr algn="just">
              <a:lnSpc>
                <a:spcPts val="10500"/>
              </a:lnSpc>
            </a:pPr>
            <a:r>
              <a:rPr lang="en-IN" sz="4000" b="1" dirty="0">
                <a:solidFill>
                  <a:srgbClr val="2E3A44"/>
                </a:solidFill>
                <a:latin typeface="Times New Roman" panose="02020603050405020304" pitchFamily="18" charset="0"/>
                <a:ea typeface="Nirand Bold"/>
                <a:cs typeface="Times New Roman" panose="02020603050405020304" pitchFamily="18" charset="0"/>
                <a:sym typeface="Nirand Bold"/>
              </a:rPr>
              <a:t>MODELS USED (CNN+HuBERT)- WHY &amp; HOW</a:t>
            </a:r>
            <a:endParaRPr lang="en-US" sz="4000" b="1" dirty="0">
              <a:solidFill>
                <a:srgbClr val="2E3A44"/>
              </a:solidFill>
              <a:latin typeface="Times New Roman" panose="02020603050405020304" pitchFamily="18" charset="0"/>
              <a:ea typeface="Nirand Bold"/>
              <a:cs typeface="Times New Roman" panose="02020603050405020304" pitchFamily="18" charset="0"/>
              <a:sym typeface="Nirand Bold"/>
            </a:endParaRPr>
          </a:p>
        </p:txBody>
      </p:sp>
      <p:sp>
        <p:nvSpPr>
          <p:cNvPr id="11" name="TextBox 10">
            <a:extLst>
              <a:ext uri="{FF2B5EF4-FFF2-40B4-BE49-F238E27FC236}">
                <a16:creationId xmlns:a16="http://schemas.microsoft.com/office/drawing/2014/main" id="{A96FDAE9-E9E0-59F6-BF04-A0C729F3F926}"/>
              </a:ext>
            </a:extLst>
          </p:cNvPr>
          <p:cNvSpPr txBox="1"/>
          <p:nvPr/>
        </p:nvSpPr>
        <p:spPr>
          <a:xfrm>
            <a:off x="2025405" y="1812887"/>
            <a:ext cx="15887028" cy="7478970"/>
          </a:xfrm>
          <a:prstGeom prst="rect">
            <a:avLst/>
          </a:prstGeom>
          <a:noFill/>
        </p:spPr>
        <p:txBody>
          <a:bodyPr wrap="square">
            <a:spAutoFit/>
          </a:bodyPr>
          <a:lstStyle/>
          <a:p>
            <a:pPr algn="just">
              <a:buNone/>
            </a:pPr>
            <a:r>
              <a:rPr lang="en-US" sz="2000" dirty="0">
                <a:latin typeface="Times New Roman" panose="02020603050405020304" pitchFamily="18" charset="0"/>
                <a:cs typeface="Times New Roman" panose="02020603050405020304" pitchFamily="18" charset="0"/>
              </a:rPr>
              <a:t>MAITRI uses </a:t>
            </a:r>
            <a:r>
              <a:rPr lang="en-US" sz="2000" b="1" dirty="0">
                <a:latin typeface="Times New Roman" panose="02020603050405020304" pitchFamily="18" charset="0"/>
                <a:cs typeface="Times New Roman" panose="02020603050405020304" pitchFamily="18" charset="0"/>
              </a:rPr>
              <a:t>deep learning models</a:t>
            </a:r>
            <a:r>
              <a:rPr lang="en-US" sz="2000" dirty="0">
                <a:latin typeface="Times New Roman" panose="02020603050405020304" pitchFamily="18" charset="0"/>
                <a:cs typeface="Times New Roman" panose="02020603050405020304" pitchFamily="18" charset="0"/>
              </a:rPr>
              <a:t> to accurately detect human emotions from both </a:t>
            </a:r>
            <a:r>
              <a:rPr lang="en-US" sz="2000" b="1" dirty="0">
                <a:latin typeface="Times New Roman" panose="02020603050405020304" pitchFamily="18" charset="0"/>
                <a:cs typeface="Times New Roman" panose="02020603050405020304" pitchFamily="18" charset="0"/>
              </a:rPr>
              <a:t>facial expressions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voice signals</a:t>
            </a:r>
            <a:r>
              <a:rPr lang="en-US" sz="2000" dirty="0">
                <a:latin typeface="Times New Roman" panose="02020603050405020304" pitchFamily="18" charset="0"/>
                <a:cs typeface="Times New Roman" panose="02020603050405020304" pitchFamily="18" charset="0"/>
              </a:rPr>
              <a:t>. Since facial data and audio data are fundamentally different in nature, two specialized models are used: </a:t>
            </a:r>
            <a:r>
              <a:rPr lang="en-US" sz="2000" b="1" dirty="0">
                <a:latin typeface="Times New Roman" panose="02020603050405020304" pitchFamily="18" charset="0"/>
                <a:cs typeface="Times New Roman" panose="02020603050405020304" pitchFamily="18" charset="0"/>
              </a:rPr>
              <a:t>CNN for images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Hubert for speech</a:t>
            </a:r>
            <a:r>
              <a:rPr lang="en-US" sz="2000" dirty="0">
                <a:latin typeface="Times New Roman" panose="02020603050405020304" pitchFamily="18" charset="0"/>
                <a:cs typeface="Times New Roman" panose="02020603050405020304" pitchFamily="18" charset="0"/>
              </a:rPr>
              <a:t>.</a:t>
            </a:r>
          </a:p>
          <a:p>
            <a:pPr algn="just">
              <a:buNone/>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algn="just">
              <a:buNone/>
            </a:pPr>
            <a:r>
              <a:rPr lang="en-US" sz="2000" b="1" dirty="0">
                <a:latin typeface="Times New Roman" panose="02020603050405020304" pitchFamily="18" charset="0"/>
                <a:cs typeface="Times New Roman" panose="02020603050405020304" pitchFamily="18" charset="0"/>
              </a:rPr>
              <a:t>1. Convolutional Neural Network (CNN) for Facial Emotion Recognition</a:t>
            </a:r>
          </a:p>
          <a:p>
            <a:pPr algn="just">
              <a:buNone/>
            </a:pPr>
            <a:r>
              <a:rPr lang="en-US" sz="2000" b="1" dirty="0">
                <a:latin typeface="Times New Roman" panose="02020603050405020304" pitchFamily="18" charset="0"/>
                <a:cs typeface="Times New Roman" panose="02020603050405020304" pitchFamily="18" charset="0"/>
              </a:rPr>
              <a:t>Why CNN is Used</a:t>
            </a:r>
          </a:p>
          <a:p>
            <a:pPr algn="just">
              <a:buNone/>
            </a:pPr>
            <a:r>
              <a:rPr lang="en-US" sz="2000" dirty="0">
                <a:latin typeface="Times New Roman" panose="02020603050405020304" pitchFamily="18" charset="0"/>
                <a:cs typeface="Times New Roman" panose="02020603050405020304" pitchFamily="18" charset="0"/>
              </a:rPr>
              <a:t>Facial expressions are visual patterns formed by movements of facial muscles such as eyes, eyebrows, lips, and cheeks. </a:t>
            </a:r>
            <a:r>
              <a:rPr lang="en-US" sz="2000" b="1" dirty="0">
                <a:latin typeface="Times New Roman" panose="02020603050405020304" pitchFamily="18" charset="0"/>
                <a:cs typeface="Times New Roman" panose="02020603050405020304" pitchFamily="18" charset="0"/>
              </a:rPr>
              <a:t>CNNs are highly effective for image-based tasks</a:t>
            </a:r>
            <a:r>
              <a:rPr lang="en-US" sz="2000" dirty="0">
                <a:latin typeface="Times New Roman" panose="02020603050405020304" pitchFamily="18" charset="0"/>
                <a:cs typeface="Times New Roman" panose="02020603050405020304" pitchFamily="18" charset="0"/>
              </a:rPr>
              <a:t> because:</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They automatically extract important spatial features from images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They can detect fine-grained facial movements (micro-expressions)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They are computationally efficient for real-time image processing</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They outperform traditional machine learning models in image recognition tasks</a:t>
            </a:r>
          </a:p>
          <a:p>
            <a:pPr algn="just">
              <a:buNone/>
            </a:pPr>
            <a:r>
              <a:rPr lang="en-US" sz="2000" dirty="0">
                <a:latin typeface="Times New Roman" panose="02020603050405020304" pitchFamily="18" charset="0"/>
                <a:cs typeface="Times New Roman" panose="02020603050405020304" pitchFamily="18" charset="0"/>
              </a:rPr>
              <a:t>Therefore, CNN is an ideal choice for detecting emotions from facial expressions.</a:t>
            </a:r>
          </a:p>
          <a:p>
            <a:pPr algn="just">
              <a:buNone/>
            </a:pPr>
            <a:endParaRPr lang="en-US" sz="2000" dirty="0">
              <a:latin typeface="Times New Roman" panose="02020603050405020304" pitchFamily="18" charset="0"/>
              <a:cs typeface="Times New Roman" panose="02020603050405020304" pitchFamily="18" charset="0"/>
            </a:endParaRPr>
          </a:p>
          <a:p>
            <a:pPr algn="just">
              <a:buNone/>
            </a:pPr>
            <a:r>
              <a:rPr lang="en-US" sz="2000" b="1" dirty="0">
                <a:latin typeface="Times New Roman" panose="02020603050405020304" pitchFamily="18" charset="0"/>
                <a:cs typeface="Times New Roman" panose="02020603050405020304" pitchFamily="18" charset="0"/>
              </a:rPr>
              <a:t>How CNN Works in MAITRI</a:t>
            </a:r>
          </a:p>
          <a:p>
            <a:pPr algn="just">
              <a:buFont typeface="+mj-lt"/>
              <a:buAutoNum type="arabicPeriod"/>
            </a:pPr>
            <a:r>
              <a:rPr lang="en-US" sz="2000" dirty="0">
                <a:latin typeface="Times New Roman" panose="02020603050405020304" pitchFamily="18" charset="0"/>
                <a:cs typeface="Times New Roman" panose="02020603050405020304" pitchFamily="18" charset="0"/>
              </a:rPr>
              <a:t>The webcam captures a real-time image of the user.</a:t>
            </a:r>
          </a:p>
          <a:p>
            <a:pPr algn="just">
              <a:buFont typeface="+mj-lt"/>
              <a:buAutoNum type="arabicPeriod"/>
            </a:pPr>
            <a:r>
              <a:rPr lang="en-US" sz="2000" dirty="0">
                <a:latin typeface="Times New Roman" panose="02020603050405020304" pitchFamily="18" charset="0"/>
                <a:cs typeface="Times New Roman" panose="02020603050405020304" pitchFamily="18" charset="0"/>
              </a:rPr>
              <a:t>OpenCV is used to detect and crop the face region.</a:t>
            </a:r>
          </a:p>
          <a:p>
            <a:pPr algn="just">
              <a:buFont typeface="+mj-lt"/>
              <a:buAutoNum type="arabicPeriod"/>
            </a:pPr>
            <a:r>
              <a:rPr lang="en-US" sz="2000" dirty="0">
                <a:latin typeface="Times New Roman" panose="02020603050405020304" pitchFamily="18" charset="0"/>
                <a:cs typeface="Times New Roman" panose="02020603050405020304" pitchFamily="18" charset="0"/>
              </a:rPr>
              <a:t>The cropped face image is resized to </a:t>
            </a:r>
            <a:r>
              <a:rPr lang="en-US" sz="2000" b="1" dirty="0">
                <a:latin typeface="Times New Roman" panose="02020603050405020304" pitchFamily="18" charset="0"/>
                <a:cs typeface="Times New Roman" panose="02020603050405020304" pitchFamily="18" charset="0"/>
              </a:rPr>
              <a:t>48×48 grayscale format</a:t>
            </a:r>
            <a:r>
              <a:rPr lang="en-US" sz="2000" dirty="0">
                <a:latin typeface="Times New Roman" panose="02020603050405020304" pitchFamily="18" charset="0"/>
                <a:cs typeface="Times New Roman" panose="02020603050405020304" pitchFamily="18" charset="0"/>
              </a:rPr>
              <a:t>.</a:t>
            </a:r>
          </a:p>
          <a:p>
            <a:pPr algn="just">
              <a:buFont typeface="+mj-lt"/>
              <a:buAutoNum type="arabicPeriod"/>
            </a:pPr>
            <a:r>
              <a:rPr lang="en-US" sz="2000" dirty="0">
                <a:latin typeface="Times New Roman" panose="02020603050405020304" pitchFamily="18" charset="0"/>
                <a:cs typeface="Times New Roman" panose="02020603050405020304" pitchFamily="18" charset="0"/>
              </a:rPr>
              <a:t>The image is passed through multiple convolution and pooling layers.</a:t>
            </a:r>
          </a:p>
          <a:p>
            <a:pPr algn="just">
              <a:buFont typeface="+mj-lt"/>
              <a:buAutoNum type="arabicPeriod"/>
            </a:pPr>
            <a:r>
              <a:rPr lang="en-US" sz="2000" dirty="0">
                <a:latin typeface="Times New Roman" panose="02020603050405020304" pitchFamily="18" charset="0"/>
                <a:cs typeface="Times New Roman" panose="02020603050405020304" pitchFamily="18" charset="0"/>
              </a:rPr>
              <a:t>The CNN extracts facial features and classifies the image into one of the </a:t>
            </a:r>
            <a:r>
              <a:rPr lang="en-US" sz="2000" b="1" dirty="0">
                <a:latin typeface="Times New Roman" panose="02020603050405020304" pitchFamily="18" charset="0"/>
                <a:cs typeface="Times New Roman" panose="02020603050405020304" pitchFamily="18" charset="0"/>
              </a:rPr>
              <a:t>seven emotion categories</a:t>
            </a:r>
            <a:r>
              <a:rPr lang="en-US" sz="2000" dirty="0">
                <a:latin typeface="Times New Roman" panose="02020603050405020304" pitchFamily="18" charset="0"/>
                <a:cs typeface="Times New Roman" panose="02020603050405020304" pitchFamily="18" charset="0"/>
              </a:rPr>
              <a:t>.</a:t>
            </a:r>
          </a:p>
          <a:p>
            <a:pPr algn="just">
              <a:buFont typeface="+mj-lt"/>
              <a:buAutoNum type="arabicPeriod"/>
            </a:pPr>
            <a:r>
              <a:rPr lang="en-US" sz="2000" dirty="0">
                <a:latin typeface="Times New Roman" panose="02020603050405020304" pitchFamily="18" charset="0"/>
                <a:cs typeface="Times New Roman" panose="02020603050405020304" pitchFamily="18" charset="0"/>
              </a:rPr>
              <a:t>The predicted emotion is sent to the backend for response generation.</a:t>
            </a:r>
          </a:p>
          <a:p>
            <a:pPr algn="just"/>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Dataset Used</a:t>
            </a:r>
            <a:r>
              <a:rPr lang="en-US" sz="2000" dirty="0">
                <a:latin typeface="Times New Roman" panose="02020603050405020304" pitchFamily="18" charset="0"/>
                <a:cs typeface="Times New Roman" panose="02020603050405020304" pitchFamily="18" charset="0"/>
              </a:rPr>
              <a:t>: FER2013</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Output</a:t>
            </a:r>
            <a:r>
              <a:rPr lang="en-US" sz="2000" dirty="0">
                <a:latin typeface="Times New Roman" panose="02020603050405020304" pitchFamily="18" charset="0"/>
                <a:cs typeface="Times New Roman" panose="02020603050405020304" pitchFamily="18" charset="0"/>
              </a:rPr>
              <a:t>: Facial emotion label (Happy, Sad, Angry, Fear, Disgust, Surprise, Neutral)</a:t>
            </a:r>
          </a:p>
        </p:txBody>
      </p:sp>
    </p:spTree>
    <p:extLst>
      <p:ext uri="{BB962C8B-B14F-4D97-AF65-F5344CB8AC3E}">
        <p14:creationId xmlns:p14="http://schemas.microsoft.com/office/powerpoint/2010/main" val="1385803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750C2-5327-83D0-E43A-2D2BAF12291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B5AB6A1-002A-794D-580D-EE044F48BBD7}"/>
              </a:ext>
            </a:extLst>
          </p:cNvPr>
          <p:cNvGrpSpPr/>
          <p:nvPr/>
        </p:nvGrpSpPr>
        <p:grpSpPr>
          <a:xfrm>
            <a:off x="12417447" y="7372841"/>
            <a:ext cx="8028675" cy="8028675"/>
            <a:chOff x="0" y="0"/>
            <a:chExt cx="812800" cy="812800"/>
          </a:xfrm>
        </p:grpSpPr>
        <p:sp>
          <p:nvSpPr>
            <p:cNvPr id="3" name="Freeform 3">
              <a:extLst>
                <a:ext uri="{FF2B5EF4-FFF2-40B4-BE49-F238E27FC236}">
                  <a16:creationId xmlns:a16="http://schemas.microsoft.com/office/drawing/2014/main" id="{BC4A914D-7A19-207D-1FA4-F1FAB1D70B1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4" name="TextBox 4">
              <a:extLst>
                <a:ext uri="{FF2B5EF4-FFF2-40B4-BE49-F238E27FC236}">
                  <a16:creationId xmlns:a16="http://schemas.microsoft.com/office/drawing/2014/main" id="{01948327-009D-F9A4-65A7-0DD2A1877A9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a:extLst>
              <a:ext uri="{FF2B5EF4-FFF2-40B4-BE49-F238E27FC236}">
                <a16:creationId xmlns:a16="http://schemas.microsoft.com/office/drawing/2014/main" id="{7B73905A-137D-5A3E-C6B9-9929E76F6546}"/>
              </a:ext>
            </a:extLst>
          </p:cNvPr>
          <p:cNvSpPr/>
          <p:nvPr/>
        </p:nvSpPr>
        <p:spPr>
          <a:xfrm>
            <a:off x="914400" y="10020300"/>
            <a:ext cx="16185445" cy="0"/>
          </a:xfrm>
          <a:prstGeom prst="line">
            <a:avLst/>
          </a:prstGeom>
          <a:ln w="38100" cap="flat">
            <a:solidFill>
              <a:srgbClr val="2E3A44"/>
            </a:solidFill>
            <a:prstDash val="solid"/>
            <a:headEnd type="oval" w="lg" len="lg"/>
            <a:tailEnd type="oval" w="lg" len="lg"/>
          </a:ln>
        </p:spPr>
        <p:txBody>
          <a:bodyPr/>
          <a:lstStyle/>
          <a:p>
            <a:endParaRPr lang="en-IN" dirty="0"/>
          </a:p>
        </p:txBody>
      </p:sp>
      <p:grpSp>
        <p:nvGrpSpPr>
          <p:cNvPr id="6" name="Group 6">
            <a:extLst>
              <a:ext uri="{FF2B5EF4-FFF2-40B4-BE49-F238E27FC236}">
                <a16:creationId xmlns:a16="http://schemas.microsoft.com/office/drawing/2014/main" id="{7C704A2A-CB73-2B9A-31D9-F43B61ED1F81}"/>
              </a:ext>
            </a:extLst>
          </p:cNvPr>
          <p:cNvGrpSpPr/>
          <p:nvPr/>
        </p:nvGrpSpPr>
        <p:grpSpPr>
          <a:xfrm>
            <a:off x="322038" y="-1115182"/>
            <a:ext cx="2230365" cy="2230365"/>
            <a:chOff x="0" y="0"/>
            <a:chExt cx="812800" cy="812800"/>
          </a:xfrm>
        </p:grpSpPr>
        <p:sp>
          <p:nvSpPr>
            <p:cNvPr id="7" name="Freeform 7">
              <a:extLst>
                <a:ext uri="{FF2B5EF4-FFF2-40B4-BE49-F238E27FC236}">
                  <a16:creationId xmlns:a16="http://schemas.microsoft.com/office/drawing/2014/main" id="{9902D1E4-9FC8-B100-9295-A7D52935262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8" name="TextBox 8">
              <a:extLst>
                <a:ext uri="{FF2B5EF4-FFF2-40B4-BE49-F238E27FC236}">
                  <a16:creationId xmlns:a16="http://schemas.microsoft.com/office/drawing/2014/main" id="{0774C5CA-3FB7-BF6C-AB0A-9D6B044D198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a:extLst>
              <a:ext uri="{FF2B5EF4-FFF2-40B4-BE49-F238E27FC236}">
                <a16:creationId xmlns:a16="http://schemas.microsoft.com/office/drawing/2014/main" id="{B336D4D7-AF9F-C4FD-A5AE-D70E57ACB92A}"/>
              </a:ext>
            </a:extLst>
          </p:cNvPr>
          <p:cNvSpPr txBox="1"/>
          <p:nvPr/>
        </p:nvSpPr>
        <p:spPr>
          <a:xfrm>
            <a:off x="3135281" y="30201"/>
            <a:ext cx="12028519" cy="1130118"/>
          </a:xfrm>
          <a:prstGeom prst="rect">
            <a:avLst/>
          </a:prstGeom>
        </p:spPr>
        <p:txBody>
          <a:bodyPr wrap="square" lIns="0" tIns="0" rIns="0" bIns="0" rtlCol="0" anchor="t">
            <a:spAutoFit/>
          </a:bodyPr>
          <a:lstStyle/>
          <a:p>
            <a:pPr algn="just">
              <a:lnSpc>
                <a:spcPts val="10500"/>
              </a:lnSpc>
            </a:pPr>
            <a:r>
              <a:rPr lang="en-IN" sz="4000" b="1" dirty="0">
                <a:solidFill>
                  <a:srgbClr val="2E3A44"/>
                </a:solidFill>
                <a:latin typeface="Times New Roman" panose="02020603050405020304" pitchFamily="18" charset="0"/>
                <a:ea typeface="Nirand Bold"/>
                <a:cs typeface="Times New Roman" panose="02020603050405020304" pitchFamily="18" charset="0"/>
                <a:sym typeface="Nirand Bold"/>
              </a:rPr>
              <a:t>MODELS USED (CNN+HuBERT)- WHY &amp; HOW</a:t>
            </a:r>
            <a:endParaRPr lang="en-US" sz="4000" b="1" dirty="0">
              <a:solidFill>
                <a:srgbClr val="2E3A44"/>
              </a:solidFill>
              <a:latin typeface="Times New Roman" panose="02020603050405020304" pitchFamily="18" charset="0"/>
              <a:ea typeface="Nirand Bold"/>
              <a:cs typeface="Times New Roman" panose="02020603050405020304" pitchFamily="18" charset="0"/>
              <a:sym typeface="Nirand Bold"/>
            </a:endParaRPr>
          </a:p>
        </p:txBody>
      </p:sp>
      <p:sp>
        <p:nvSpPr>
          <p:cNvPr id="11" name="TextBox 10">
            <a:extLst>
              <a:ext uri="{FF2B5EF4-FFF2-40B4-BE49-F238E27FC236}">
                <a16:creationId xmlns:a16="http://schemas.microsoft.com/office/drawing/2014/main" id="{26133853-DAE9-0180-04F3-5483F67F92AF}"/>
              </a:ext>
            </a:extLst>
          </p:cNvPr>
          <p:cNvSpPr txBox="1"/>
          <p:nvPr/>
        </p:nvSpPr>
        <p:spPr>
          <a:xfrm>
            <a:off x="2552403" y="1806176"/>
            <a:ext cx="14257296" cy="7171194"/>
          </a:xfrm>
          <a:prstGeom prst="rect">
            <a:avLst/>
          </a:prstGeom>
          <a:noFill/>
        </p:spPr>
        <p:txBody>
          <a:bodyPr wrap="square">
            <a:spAutoFit/>
          </a:bodyPr>
          <a:lstStyle/>
          <a:p>
            <a:pPr algn="just">
              <a:buNone/>
            </a:pPr>
            <a:r>
              <a:rPr lang="en-US" sz="2000" b="1" dirty="0">
                <a:latin typeface="Times New Roman" panose="02020603050405020304" pitchFamily="18" charset="0"/>
                <a:cs typeface="Times New Roman" panose="02020603050405020304" pitchFamily="18" charset="0"/>
              </a:rPr>
              <a:t>2. Hubert Model for Voice Emotion Recognition</a:t>
            </a:r>
          </a:p>
          <a:p>
            <a:pPr algn="just">
              <a:buNone/>
            </a:pPr>
            <a:r>
              <a:rPr lang="en-US" sz="2000" b="1" dirty="0">
                <a:latin typeface="Times New Roman" panose="02020603050405020304" pitchFamily="18" charset="0"/>
                <a:cs typeface="Times New Roman" panose="02020603050405020304" pitchFamily="18" charset="0"/>
              </a:rPr>
              <a:t>Why </a:t>
            </a:r>
            <a:r>
              <a:rPr lang="en-US" sz="2000" b="1" dirty="0" err="1">
                <a:latin typeface="Times New Roman" panose="02020603050405020304" pitchFamily="18" charset="0"/>
                <a:cs typeface="Times New Roman" panose="02020603050405020304" pitchFamily="18" charset="0"/>
              </a:rPr>
              <a:t>HuBERT</a:t>
            </a:r>
            <a:r>
              <a:rPr lang="en-US" sz="2000" b="1" dirty="0">
                <a:latin typeface="Times New Roman" panose="02020603050405020304" pitchFamily="18" charset="0"/>
                <a:cs typeface="Times New Roman" panose="02020603050405020304" pitchFamily="18" charset="0"/>
              </a:rPr>
              <a:t> is Used</a:t>
            </a:r>
          </a:p>
          <a:p>
            <a:pPr algn="just">
              <a:buNone/>
            </a:pPr>
            <a:r>
              <a:rPr lang="en-US" sz="2000" dirty="0">
                <a:latin typeface="Times New Roman" panose="02020603050405020304" pitchFamily="18" charset="0"/>
                <a:cs typeface="Times New Roman" panose="02020603050405020304" pitchFamily="18" charset="0"/>
              </a:rPr>
              <a:t>Human emotions are often reflected in voice characteristics such as tone, pitch, loudness, and speaking speed. Traditional audio features alone are not sufficient to capture emotional context. </a:t>
            </a:r>
            <a:r>
              <a:rPr lang="en-US" sz="2000" b="1" dirty="0" err="1">
                <a:latin typeface="Times New Roman" panose="02020603050405020304" pitchFamily="18" charset="0"/>
                <a:cs typeface="Times New Roman" panose="02020603050405020304" pitchFamily="18" charset="0"/>
              </a:rPr>
              <a:t>HuBERT</a:t>
            </a:r>
            <a:r>
              <a:rPr lang="en-US" sz="2000" b="1" dirty="0">
                <a:latin typeface="Times New Roman" panose="02020603050405020304" pitchFamily="18" charset="0"/>
                <a:cs typeface="Times New Roman" panose="02020603050405020304" pitchFamily="18" charset="0"/>
              </a:rPr>
              <a:t> (Hidden-Unit BERT)</a:t>
            </a:r>
            <a:r>
              <a:rPr lang="en-US" sz="2000" dirty="0">
                <a:latin typeface="Times New Roman" panose="02020603050405020304" pitchFamily="18" charset="0"/>
                <a:cs typeface="Times New Roman" panose="02020603050405020304" pitchFamily="18" charset="0"/>
              </a:rPr>
              <a:t> is used because:</a:t>
            </a:r>
          </a:p>
          <a:p>
            <a:pPr algn="just">
              <a:buNone/>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is a </a:t>
            </a:r>
            <a:r>
              <a:rPr lang="en-US" sz="2000" b="1" dirty="0">
                <a:latin typeface="Times New Roman" panose="02020603050405020304" pitchFamily="18" charset="0"/>
                <a:cs typeface="Times New Roman" panose="02020603050405020304" pitchFamily="18" charset="0"/>
              </a:rPr>
              <a:t>self-supervised speech representation model</a:t>
            </a: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learns deep emotional and acoustic patterns from raw audio</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performs well even with noise and accent variations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captures speech structure beyond simple sound features</a:t>
            </a:r>
          </a:p>
          <a:p>
            <a:pPr algn="just"/>
            <a:endParaRPr lang="en-US" sz="2000" dirty="0">
              <a:latin typeface="Times New Roman" panose="02020603050405020304" pitchFamily="18" charset="0"/>
              <a:cs typeface="Times New Roman" panose="02020603050405020304" pitchFamily="18" charset="0"/>
            </a:endParaRPr>
          </a:p>
          <a:p>
            <a:pPr algn="just">
              <a:buNone/>
            </a:pPr>
            <a:r>
              <a:rPr lang="en-US" sz="2000" dirty="0">
                <a:latin typeface="Times New Roman" panose="02020603050405020304" pitchFamily="18" charset="0"/>
                <a:cs typeface="Times New Roman" panose="02020603050405020304" pitchFamily="18" charset="0"/>
              </a:rPr>
              <a:t>This makes Hubert highly suitable for speech-based emotion recognition.</a:t>
            </a:r>
          </a:p>
          <a:p>
            <a:pPr algn="just">
              <a:buNone/>
            </a:pPr>
            <a:endParaRPr lang="en-US" sz="2000" dirty="0">
              <a:latin typeface="Times New Roman" panose="02020603050405020304" pitchFamily="18" charset="0"/>
              <a:cs typeface="Times New Roman" panose="02020603050405020304" pitchFamily="18" charset="0"/>
            </a:endParaRPr>
          </a:p>
          <a:p>
            <a:pPr algn="just">
              <a:buNone/>
            </a:pPr>
            <a:r>
              <a:rPr lang="en-US" sz="2000" b="1" dirty="0">
                <a:latin typeface="Times New Roman" panose="02020603050405020304" pitchFamily="18" charset="0"/>
                <a:cs typeface="Times New Roman" panose="02020603050405020304" pitchFamily="18" charset="0"/>
              </a:rPr>
              <a:t>How Hubert Works in MAITRI</a:t>
            </a:r>
          </a:p>
          <a:p>
            <a:pPr algn="just">
              <a:buFont typeface="+mj-lt"/>
              <a:buAutoNum type="arabicPeriod"/>
            </a:pPr>
            <a:r>
              <a:rPr lang="en-US" sz="2000" dirty="0">
                <a:latin typeface="Times New Roman" panose="02020603050405020304" pitchFamily="18" charset="0"/>
                <a:cs typeface="Times New Roman" panose="02020603050405020304" pitchFamily="18" charset="0"/>
              </a:rPr>
              <a:t>The system records the user’s voice input using a microphone.</a:t>
            </a:r>
          </a:p>
          <a:p>
            <a:pPr algn="just">
              <a:buFont typeface="+mj-lt"/>
              <a:buAutoNum type="arabicPeriod"/>
            </a:pPr>
            <a:r>
              <a:rPr lang="en-US" sz="2000" dirty="0">
                <a:latin typeface="Times New Roman" panose="02020603050405020304" pitchFamily="18" charset="0"/>
                <a:cs typeface="Times New Roman" panose="02020603050405020304" pitchFamily="18" charset="0"/>
              </a:rPr>
              <a:t>The audio is sampled at </a:t>
            </a:r>
            <a:r>
              <a:rPr lang="en-US" sz="2000" b="1" dirty="0">
                <a:latin typeface="Times New Roman" panose="02020603050405020304" pitchFamily="18" charset="0"/>
                <a:cs typeface="Times New Roman" panose="02020603050405020304" pitchFamily="18" charset="0"/>
              </a:rPr>
              <a:t>16kHz</a:t>
            </a:r>
            <a:r>
              <a:rPr lang="en-US" sz="2000" dirty="0">
                <a:latin typeface="Times New Roman" panose="02020603050405020304" pitchFamily="18" charset="0"/>
                <a:cs typeface="Times New Roman" panose="02020603050405020304" pitchFamily="18" charset="0"/>
              </a:rPr>
              <a:t> for consistency.</a:t>
            </a:r>
          </a:p>
          <a:p>
            <a:pPr algn="just">
              <a:buFont typeface="+mj-lt"/>
              <a:buAutoNum type="arabicPeriod"/>
            </a:pPr>
            <a:r>
              <a:rPr lang="en-US" sz="2000" dirty="0">
                <a:latin typeface="Times New Roman" panose="02020603050405020304" pitchFamily="18" charset="0"/>
                <a:cs typeface="Times New Roman" panose="02020603050405020304" pitchFamily="18" charset="0"/>
              </a:rPr>
              <a:t>Acoustic features such as MFCCs, pitch, and energy are extracted.</a:t>
            </a:r>
          </a:p>
          <a:p>
            <a:pPr algn="just">
              <a:buFont typeface="+mj-lt"/>
              <a:buAutoNum type="arabicPeriod"/>
            </a:pPr>
            <a:r>
              <a:rPr lang="en-US" sz="2000" dirty="0">
                <a:latin typeface="Times New Roman" panose="02020603050405020304" pitchFamily="18" charset="0"/>
                <a:cs typeface="Times New Roman" panose="02020603050405020304" pitchFamily="18" charset="0"/>
              </a:rPr>
              <a:t>The processed audio is passed to the fine-tuned </a:t>
            </a:r>
            <a:r>
              <a:rPr lang="en-US" sz="2000" dirty="0" err="1">
                <a:latin typeface="Times New Roman" panose="02020603050405020304" pitchFamily="18" charset="0"/>
                <a:cs typeface="Times New Roman" panose="02020603050405020304" pitchFamily="18" charset="0"/>
              </a:rPr>
              <a:t>HuBERT</a:t>
            </a:r>
            <a:r>
              <a:rPr lang="en-US" sz="2000" dirty="0">
                <a:latin typeface="Times New Roman" panose="02020603050405020304" pitchFamily="18" charset="0"/>
                <a:cs typeface="Times New Roman" panose="02020603050405020304" pitchFamily="18" charset="0"/>
              </a:rPr>
              <a:t> model.</a:t>
            </a:r>
          </a:p>
          <a:p>
            <a:pPr algn="just">
              <a:buFont typeface="+mj-lt"/>
              <a:buAutoNum type="arabicPeriod"/>
            </a:pPr>
            <a:r>
              <a:rPr lang="en-US" sz="2000" dirty="0">
                <a:latin typeface="Times New Roman" panose="02020603050405020304" pitchFamily="18" charset="0"/>
                <a:cs typeface="Times New Roman" panose="02020603050405020304" pitchFamily="18" charset="0"/>
              </a:rPr>
              <a:t>Hubert analyzes speech representations and predicts the emotional state.</a:t>
            </a:r>
          </a:p>
          <a:p>
            <a:pPr algn="just">
              <a:buFont typeface="+mj-lt"/>
              <a:buAutoNum type="arabicPeriod"/>
            </a:pPr>
            <a:r>
              <a:rPr lang="en-US" sz="2000" dirty="0">
                <a:latin typeface="Times New Roman" panose="02020603050405020304" pitchFamily="18" charset="0"/>
                <a:cs typeface="Times New Roman" panose="02020603050405020304" pitchFamily="18" charset="0"/>
              </a:rPr>
              <a:t>The detected emotion is forwarded for empathetic response generation.</a:t>
            </a:r>
          </a:p>
          <a:p>
            <a:pPr algn="just"/>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Datasets Used</a:t>
            </a: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Speech Emotion Recognition (</a:t>
            </a:r>
            <a:r>
              <a:rPr lang="en-IN" sz="2000" dirty="0" err="1">
                <a:latin typeface="Times New Roman" panose="02020603050405020304" pitchFamily="18" charset="0"/>
                <a:cs typeface="Times New Roman" panose="02020603050405020304" pitchFamily="18" charset="0"/>
              </a:rPr>
              <a:t>en</a:t>
            </a:r>
            <a:r>
              <a:rPr lang="en-IN"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 TESS, and custom Hinglish voice samples</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Output</a:t>
            </a:r>
            <a:r>
              <a:rPr lang="en-US" sz="2000" dirty="0">
                <a:latin typeface="Times New Roman" panose="02020603050405020304" pitchFamily="18" charset="0"/>
                <a:cs typeface="Times New Roman" panose="02020603050405020304" pitchFamily="18" charset="0"/>
              </a:rPr>
              <a:t>: Voice-based emotion classification</a:t>
            </a:r>
          </a:p>
        </p:txBody>
      </p:sp>
    </p:spTree>
    <p:extLst>
      <p:ext uri="{BB962C8B-B14F-4D97-AF65-F5344CB8AC3E}">
        <p14:creationId xmlns:p14="http://schemas.microsoft.com/office/powerpoint/2010/main" val="642443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418A9-679A-B296-7C93-870E0EBD68C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F0B410D-8250-F486-45EE-01822E227F79}"/>
              </a:ext>
            </a:extLst>
          </p:cNvPr>
          <p:cNvGrpSpPr/>
          <p:nvPr/>
        </p:nvGrpSpPr>
        <p:grpSpPr>
          <a:xfrm>
            <a:off x="12417447" y="7372841"/>
            <a:ext cx="8028675" cy="8028675"/>
            <a:chOff x="0" y="0"/>
            <a:chExt cx="812800" cy="812800"/>
          </a:xfrm>
        </p:grpSpPr>
        <p:sp>
          <p:nvSpPr>
            <p:cNvPr id="3" name="Freeform 3">
              <a:extLst>
                <a:ext uri="{FF2B5EF4-FFF2-40B4-BE49-F238E27FC236}">
                  <a16:creationId xmlns:a16="http://schemas.microsoft.com/office/drawing/2014/main" id="{245661A7-B2B5-1220-C87D-08CA0A20896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4" name="TextBox 4">
              <a:extLst>
                <a:ext uri="{FF2B5EF4-FFF2-40B4-BE49-F238E27FC236}">
                  <a16:creationId xmlns:a16="http://schemas.microsoft.com/office/drawing/2014/main" id="{C0236176-8BC5-FC89-DB53-A9EAE7310F9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a:extLst>
              <a:ext uri="{FF2B5EF4-FFF2-40B4-BE49-F238E27FC236}">
                <a16:creationId xmlns:a16="http://schemas.microsoft.com/office/drawing/2014/main" id="{CC636BFC-D038-9954-D47F-952B40DAFF96}"/>
              </a:ext>
            </a:extLst>
          </p:cNvPr>
          <p:cNvSpPr/>
          <p:nvPr/>
        </p:nvSpPr>
        <p:spPr>
          <a:xfrm>
            <a:off x="914400" y="10020300"/>
            <a:ext cx="16185445" cy="0"/>
          </a:xfrm>
          <a:prstGeom prst="line">
            <a:avLst/>
          </a:prstGeom>
          <a:ln w="38100" cap="flat">
            <a:solidFill>
              <a:srgbClr val="2E3A44"/>
            </a:solidFill>
            <a:prstDash val="solid"/>
            <a:headEnd type="oval" w="lg" len="lg"/>
            <a:tailEnd type="oval" w="lg" len="lg"/>
          </a:ln>
        </p:spPr>
        <p:txBody>
          <a:bodyPr/>
          <a:lstStyle/>
          <a:p>
            <a:endParaRPr lang="en-IN" dirty="0"/>
          </a:p>
        </p:txBody>
      </p:sp>
      <p:grpSp>
        <p:nvGrpSpPr>
          <p:cNvPr id="6" name="Group 6">
            <a:extLst>
              <a:ext uri="{FF2B5EF4-FFF2-40B4-BE49-F238E27FC236}">
                <a16:creationId xmlns:a16="http://schemas.microsoft.com/office/drawing/2014/main" id="{0D9CB5B0-2AA6-5886-0165-63B7609B3B8D}"/>
              </a:ext>
            </a:extLst>
          </p:cNvPr>
          <p:cNvGrpSpPr/>
          <p:nvPr/>
        </p:nvGrpSpPr>
        <p:grpSpPr>
          <a:xfrm>
            <a:off x="322038" y="-1115182"/>
            <a:ext cx="2230365" cy="2230365"/>
            <a:chOff x="0" y="0"/>
            <a:chExt cx="812800" cy="812800"/>
          </a:xfrm>
        </p:grpSpPr>
        <p:sp>
          <p:nvSpPr>
            <p:cNvPr id="7" name="Freeform 7">
              <a:extLst>
                <a:ext uri="{FF2B5EF4-FFF2-40B4-BE49-F238E27FC236}">
                  <a16:creationId xmlns:a16="http://schemas.microsoft.com/office/drawing/2014/main" id="{2450E49B-6043-5090-A03F-899526F5E3C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8" name="TextBox 8">
              <a:extLst>
                <a:ext uri="{FF2B5EF4-FFF2-40B4-BE49-F238E27FC236}">
                  <a16:creationId xmlns:a16="http://schemas.microsoft.com/office/drawing/2014/main" id="{749675BB-FFA2-44AF-0CB7-8F5AED8F25B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a:extLst>
              <a:ext uri="{FF2B5EF4-FFF2-40B4-BE49-F238E27FC236}">
                <a16:creationId xmlns:a16="http://schemas.microsoft.com/office/drawing/2014/main" id="{50F72260-9B22-E6DA-FD53-668E45983E92}"/>
              </a:ext>
            </a:extLst>
          </p:cNvPr>
          <p:cNvSpPr txBox="1"/>
          <p:nvPr/>
        </p:nvSpPr>
        <p:spPr>
          <a:xfrm>
            <a:off x="3069574" y="381378"/>
            <a:ext cx="11875096" cy="1151918"/>
          </a:xfrm>
          <a:prstGeom prst="rect">
            <a:avLst/>
          </a:prstGeom>
        </p:spPr>
        <p:txBody>
          <a:bodyPr wrap="square" lIns="0" tIns="0" rIns="0" bIns="0" rtlCol="0" anchor="t">
            <a:spAutoFit/>
          </a:bodyPr>
          <a:lstStyle/>
          <a:p>
            <a:pPr algn="ctr">
              <a:lnSpc>
                <a:spcPts val="10500"/>
              </a:lnSpc>
            </a:pPr>
            <a:r>
              <a:rPr lang="en-IN" sz="4000" b="1" dirty="0">
                <a:solidFill>
                  <a:srgbClr val="2E3A44"/>
                </a:solidFill>
                <a:latin typeface="Times New Roman" panose="02020603050405020304" pitchFamily="18" charset="0"/>
                <a:ea typeface="Nirand Bold"/>
                <a:cs typeface="Times New Roman" panose="02020603050405020304" pitchFamily="18" charset="0"/>
                <a:sym typeface="Nirand Bold"/>
              </a:rPr>
              <a:t>DATASET EXPLANATION</a:t>
            </a:r>
            <a:endParaRPr lang="en-US" sz="4000" b="1" dirty="0">
              <a:solidFill>
                <a:srgbClr val="2E3A44"/>
              </a:solidFill>
              <a:latin typeface="Times New Roman" panose="02020603050405020304" pitchFamily="18" charset="0"/>
              <a:ea typeface="Nirand Bold"/>
              <a:cs typeface="Times New Roman" panose="02020603050405020304" pitchFamily="18" charset="0"/>
              <a:sym typeface="Nirand Bold"/>
            </a:endParaRPr>
          </a:p>
        </p:txBody>
      </p:sp>
      <p:sp>
        <p:nvSpPr>
          <p:cNvPr id="11" name="TextBox 10">
            <a:extLst>
              <a:ext uri="{FF2B5EF4-FFF2-40B4-BE49-F238E27FC236}">
                <a16:creationId xmlns:a16="http://schemas.microsoft.com/office/drawing/2014/main" id="{E60988D7-33F2-D843-2CD5-20DAE1BAD327}"/>
              </a:ext>
            </a:extLst>
          </p:cNvPr>
          <p:cNvSpPr txBox="1"/>
          <p:nvPr/>
        </p:nvSpPr>
        <p:spPr>
          <a:xfrm>
            <a:off x="2343307" y="2277023"/>
            <a:ext cx="14756538" cy="5078313"/>
          </a:xfrm>
          <a:prstGeom prst="rect">
            <a:avLst/>
          </a:prstGeom>
          <a:noFill/>
        </p:spPr>
        <p:txBody>
          <a:bodyPr wrap="square">
            <a:spAutoFit/>
          </a:bodyPr>
          <a:lstStyle/>
          <a:p>
            <a:pPr algn="just">
              <a:buNone/>
            </a:pPr>
            <a:r>
              <a:rPr lang="en-US" b="1" dirty="0">
                <a:latin typeface="Times New Roman" panose="02020603050405020304" pitchFamily="18" charset="0"/>
                <a:cs typeface="Times New Roman" panose="02020603050405020304" pitchFamily="18" charset="0"/>
              </a:rPr>
              <a:t>Dataset Explanation</a:t>
            </a:r>
          </a:p>
          <a:p>
            <a:pPr algn="just">
              <a:buNone/>
            </a:pPr>
            <a:r>
              <a:rPr lang="en-US" dirty="0">
                <a:latin typeface="Times New Roman" panose="02020603050405020304" pitchFamily="18" charset="0"/>
                <a:cs typeface="Times New Roman" panose="02020603050405020304" pitchFamily="18" charset="0"/>
              </a:rPr>
              <a:t>Datasets play a crucial role in the performance and reliability of emotion recognition systems. In the MAITRI project, carefully selected and well-established datasets are used for training the facial and voice emotion recognition models to ensure accuracy, robustness, and real-world applicability.</a:t>
            </a:r>
          </a:p>
          <a:p>
            <a:pPr algn="just">
              <a:buNone/>
            </a:pP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1. Facial Emotion Dataset – FER2013</a:t>
            </a:r>
          </a:p>
          <a:p>
            <a:pPr algn="just">
              <a:buNone/>
            </a:pPr>
            <a:r>
              <a:rPr lang="en-US" b="1" dirty="0">
                <a:latin typeface="Times New Roman" panose="02020603050405020304" pitchFamily="18" charset="0"/>
                <a:cs typeface="Times New Roman" panose="02020603050405020304" pitchFamily="18" charset="0"/>
              </a:rPr>
              <a:t>FER2013 (Facial Expression Recognition 2013)</a:t>
            </a:r>
            <a:r>
              <a:rPr lang="en-US" dirty="0">
                <a:latin typeface="Times New Roman" panose="02020603050405020304" pitchFamily="18" charset="0"/>
                <a:cs typeface="Times New Roman" panose="02020603050405020304" pitchFamily="18" charset="0"/>
              </a:rPr>
              <a:t> is a widely used benchmark dataset for facial emotion recognition tasks.</a:t>
            </a:r>
          </a:p>
          <a:p>
            <a:pPr algn="just">
              <a:buNone/>
            </a:pPr>
            <a:r>
              <a:rPr lang="en-US" b="1" dirty="0">
                <a:latin typeface="Times New Roman" panose="02020603050405020304" pitchFamily="18" charset="0"/>
                <a:cs typeface="Times New Roman" panose="02020603050405020304" pitchFamily="18" charset="0"/>
              </a:rPr>
              <a:t>Dataset Details:</a:t>
            </a:r>
          </a:p>
          <a:p>
            <a:pPr algn="just">
              <a:buNone/>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Total images: Approximately </a:t>
            </a:r>
            <a:r>
              <a:rPr lang="en-US" b="1" dirty="0">
                <a:latin typeface="Times New Roman" panose="02020603050405020304" pitchFamily="18" charset="0"/>
                <a:cs typeface="Times New Roman" panose="02020603050405020304" pitchFamily="18" charset="0"/>
              </a:rPr>
              <a:t>35,000</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Image resolution: </a:t>
            </a:r>
            <a:r>
              <a:rPr lang="en-US" b="1" dirty="0">
                <a:latin typeface="Times New Roman" panose="02020603050405020304" pitchFamily="18" charset="0"/>
                <a:cs typeface="Times New Roman" panose="02020603050405020304" pitchFamily="18" charset="0"/>
              </a:rPr>
              <a:t>48 × 48 pixels</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Image type: </a:t>
            </a:r>
            <a:r>
              <a:rPr lang="en-US" b="1" dirty="0">
                <a:latin typeface="Times New Roman" panose="02020603050405020304" pitchFamily="18" charset="0"/>
                <a:cs typeface="Times New Roman" panose="02020603050405020304" pitchFamily="18" charset="0"/>
              </a:rPr>
              <a:t>Grayscale</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Emotion Classes:</a:t>
            </a:r>
            <a:r>
              <a:rPr lang="en-US" dirty="0">
                <a:latin typeface="Times New Roman" panose="02020603050405020304" pitchFamily="18" charset="0"/>
                <a:cs typeface="Times New Roman" panose="02020603050405020304" pitchFamily="18" charset="0"/>
              </a:rPr>
              <a:t> Happy, Sad, Angry, Fear, Disgust, Surprise, </a:t>
            </a:r>
            <a:r>
              <a:rPr lang="en-US" dirty="0" err="1">
                <a:latin typeface="Times New Roman" panose="02020603050405020304" pitchFamily="18" charset="0"/>
                <a:cs typeface="Times New Roman" panose="02020603050405020304" pitchFamily="18" charset="0"/>
              </a:rPr>
              <a:t>Neutral</a:t>
            </a:r>
            <a:r>
              <a:rPr lang="en-US" b="1" dirty="0" err="1">
                <a:latin typeface="Times New Roman" panose="02020603050405020304" pitchFamily="18" charset="0"/>
                <a:cs typeface="Times New Roman" panose="02020603050405020304" pitchFamily="18" charset="0"/>
              </a:rPr>
              <a:t>Justification</a:t>
            </a:r>
            <a:r>
              <a:rPr lang="en-US" b="1" dirty="0">
                <a:latin typeface="Times New Roman" panose="02020603050405020304" pitchFamily="18" charset="0"/>
                <a:cs typeface="Times New Roman" panose="02020603050405020304" pitchFamily="18" charset="0"/>
              </a:rPr>
              <a:t> for Use:</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Contains real-world facial expressions with variations in lighting, pose, and facial structure</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Low-resolution images help the model generalize better to real-time webcam inputs</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Extensively used in academic research, making performance evaluation reliable</a:t>
            </a:r>
          </a:p>
          <a:p>
            <a:pPr algn="just"/>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Usage in MAITRI:</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dataset is used to train a CNN model to learn facial muscle movements and expression patterns, enabling accurate real-time facial emotion detection.</a:t>
            </a:r>
          </a:p>
        </p:txBody>
      </p:sp>
    </p:spTree>
    <p:extLst>
      <p:ext uri="{BB962C8B-B14F-4D97-AF65-F5344CB8AC3E}">
        <p14:creationId xmlns:p14="http://schemas.microsoft.com/office/powerpoint/2010/main" val="1297886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0092F-496C-4954-1887-D17770BDEEE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DA20DD3-866C-B94C-56C8-27ED952EADD8}"/>
              </a:ext>
            </a:extLst>
          </p:cNvPr>
          <p:cNvGrpSpPr/>
          <p:nvPr/>
        </p:nvGrpSpPr>
        <p:grpSpPr>
          <a:xfrm>
            <a:off x="12417447" y="7372841"/>
            <a:ext cx="8028675" cy="8028675"/>
            <a:chOff x="0" y="0"/>
            <a:chExt cx="812800" cy="812800"/>
          </a:xfrm>
        </p:grpSpPr>
        <p:sp>
          <p:nvSpPr>
            <p:cNvPr id="3" name="Freeform 3">
              <a:extLst>
                <a:ext uri="{FF2B5EF4-FFF2-40B4-BE49-F238E27FC236}">
                  <a16:creationId xmlns:a16="http://schemas.microsoft.com/office/drawing/2014/main" id="{CFAD391B-BE86-7C75-F16C-6894D5D274A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4" name="TextBox 4">
              <a:extLst>
                <a:ext uri="{FF2B5EF4-FFF2-40B4-BE49-F238E27FC236}">
                  <a16:creationId xmlns:a16="http://schemas.microsoft.com/office/drawing/2014/main" id="{A86D663E-C5ED-A7C9-9C7B-1FB077F06BD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a:extLst>
              <a:ext uri="{FF2B5EF4-FFF2-40B4-BE49-F238E27FC236}">
                <a16:creationId xmlns:a16="http://schemas.microsoft.com/office/drawing/2014/main" id="{CD594CD9-6A76-6883-7264-2EFE52B972EC}"/>
              </a:ext>
            </a:extLst>
          </p:cNvPr>
          <p:cNvSpPr/>
          <p:nvPr/>
        </p:nvSpPr>
        <p:spPr>
          <a:xfrm>
            <a:off x="914400" y="10020300"/>
            <a:ext cx="16185445" cy="0"/>
          </a:xfrm>
          <a:prstGeom prst="line">
            <a:avLst/>
          </a:prstGeom>
          <a:ln w="38100" cap="flat">
            <a:solidFill>
              <a:srgbClr val="2E3A44"/>
            </a:solidFill>
            <a:prstDash val="solid"/>
            <a:headEnd type="oval" w="lg" len="lg"/>
            <a:tailEnd type="oval" w="lg" len="lg"/>
          </a:ln>
        </p:spPr>
        <p:txBody>
          <a:bodyPr/>
          <a:lstStyle/>
          <a:p>
            <a:endParaRPr lang="en-IN" dirty="0"/>
          </a:p>
        </p:txBody>
      </p:sp>
      <p:grpSp>
        <p:nvGrpSpPr>
          <p:cNvPr id="6" name="Group 6">
            <a:extLst>
              <a:ext uri="{FF2B5EF4-FFF2-40B4-BE49-F238E27FC236}">
                <a16:creationId xmlns:a16="http://schemas.microsoft.com/office/drawing/2014/main" id="{8E2003FC-339D-E2B6-5787-7A85A38B5275}"/>
              </a:ext>
            </a:extLst>
          </p:cNvPr>
          <p:cNvGrpSpPr/>
          <p:nvPr/>
        </p:nvGrpSpPr>
        <p:grpSpPr>
          <a:xfrm>
            <a:off x="322038" y="-1115182"/>
            <a:ext cx="2230365" cy="2230365"/>
            <a:chOff x="0" y="0"/>
            <a:chExt cx="812800" cy="812800"/>
          </a:xfrm>
        </p:grpSpPr>
        <p:sp>
          <p:nvSpPr>
            <p:cNvPr id="7" name="Freeform 7">
              <a:extLst>
                <a:ext uri="{FF2B5EF4-FFF2-40B4-BE49-F238E27FC236}">
                  <a16:creationId xmlns:a16="http://schemas.microsoft.com/office/drawing/2014/main" id="{48E7A646-23CF-B71A-3F88-166322603EF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8" name="TextBox 8">
              <a:extLst>
                <a:ext uri="{FF2B5EF4-FFF2-40B4-BE49-F238E27FC236}">
                  <a16:creationId xmlns:a16="http://schemas.microsoft.com/office/drawing/2014/main" id="{2E5AF6C7-E612-3E68-BA56-3B325394A06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a:extLst>
              <a:ext uri="{FF2B5EF4-FFF2-40B4-BE49-F238E27FC236}">
                <a16:creationId xmlns:a16="http://schemas.microsoft.com/office/drawing/2014/main" id="{CFDC0EA3-7254-A2CD-5EB1-24793D90B69B}"/>
              </a:ext>
            </a:extLst>
          </p:cNvPr>
          <p:cNvSpPr txBox="1"/>
          <p:nvPr/>
        </p:nvSpPr>
        <p:spPr>
          <a:xfrm>
            <a:off x="2971800" y="-279813"/>
            <a:ext cx="11875096" cy="1151918"/>
          </a:xfrm>
          <a:prstGeom prst="rect">
            <a:avLst/>
          </a:prstGeom>
        </p:spPr>
        <p:txBody>
          <a:bodyPr wrap="square" lIns="0" tIns="0" rIns="0" bIns="0" rtlCol="0" anchor="t">
            <a:spAutoFit/>
          </a:bodyPr>
          <a:lstStyle/>
          <a:p>
            <a:pPr algn="ctr">
              <a:lnSpc>
                <a:spcPts val="10500"/>
              </a:lnSpc>
            </a:pPr>
            <a:r>
              <a:rPr lang="en-IN" sz="4000" b="1" dirty="0">
                <a:solidFill>
                  <a:srgbClr val="2E3A44"/>
                </a:solidFill>
                <a:latin typeface="Times New Roman" panose="02020603050405020304" pitchFamily="18" charset="0"/>
                <a:ea typeface="Nirand Bold"/>
                <a:cs typeface="Times New Roman" panose="02020603050405020304" pitchFamily="18" charset="0"/>
                <a:sym typeface="Nirand Bold"/>
              </a:rPr>
              <a:t>DATASET EXPLANATION</a:t>
            </a:r>
            <a:endParaRPr lang="en-US" sz="4000" b="1" dirty="0">
              <a:solidFill>
                <a:srgbClr val="2E3A44"/>
              </a:solidFill>
              <a:latin typeface="Times New Roman" panose="02020603050405020304" pitchFamily="18" charset="0"/>
              <a:ea typeface="Nirand Bold"/>
              <a:cs typeface="Times New Roman" panose="02020603050405020304" pitchFamily="18" charset="0"/>
              <a:sym typeface="Nirand Bold"/>
            </a:endParaRPr>
          </a:p>
        </p:txBody>
      </p:sp>
      <p:sp>
        <p:nvSpPr>
          <p:cNvPr id="11" name="TextBox 10">
            <a:extLst>
              <a:ext uri="{FF2B5EF4-FFF2-40B4-BE49-F238E27FC236}">
                <a16:creationId xmlns:a16="http://schemas.microsoft.com/office/drawing/2014/main" id="{4B4D09D4-BF7E-DBA2-5DBF-318CAC16D941}"/>
              </a:ext>
            </a:extLst>
          </p:cNvPr>
          <p:cNvSpPr txBox="1"/>
          <p:nvPr/>
        </p:nvSpPr>
        <p:spPr>
          <a:xfrm>
            <a:off x="2343307" y="1491527"/>
            <a:ext cx="15887028" cy="7478970"/>
          </a:xfrm>
          <a:prstGeom prst="rect">
            <a:avLst/>
          </a:prstGeom>
          <a:noFill/>
        </p:spPr>
        <p:txBody>
          <a:bodyPr wrap="square">
            <a:spAutoFit/>
          </a:bodyPr>
          <a:lstStyle/>
          <a:p>
            <a:pPr algn="just">
              <a:buNone/>
            </a:pPr>
            <a:r>
              <a:rPr lang="en-US" sz="2000" b="1" dirty="0">
                <a:latin typeface="Times New Roman" panose="02020603050405020304" pitchFamily="18" charset="0"/>
                <a:cs typeface="Times New Roman" panose="02020603050405020304" pitchFamily="18" charset="0"/>
              </a:rPr>
              <a:t>2. Voice Emotion Datasets – RAVDESS and TESS</a:t>
            </a:r>
          </a:p>
          <a:p>
            <a:pPr algn="just">
              <a:buNone/>
            </a:pPr>
            <a:r>
              <a:rPr lang="en-US" sz="2000" dirty="0">
                <a:latin typeface="Times New Roman" panose="02020603050405020304" pitchFamily="18" charset="0"/>
                <a:cs typeface="Times New Roman" panose="02020603050405020304" pitchFamily="18" charset="0"/>
              </a:rPr>
              <a:t>To train the voice emotion recognition module, MAITRI uses multiple speech emotion datasets to improve model generalization and robustness.</a:t>
            </a:r>
          </a:p>
          <a:p>
            <a:pPr algn="just">
              <a:buNone/>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algn="just">
              <a:buNone/>
            </a:pPr>
            <a:r>
              <a:rPr lang="en-US" sz="2000" b="1" dirty="0">
                <a:latin typeface="Times New Roman" panose="02020603050405020304" pitchFamily="18" charset="0"/>
                <a:cs typeface="Times New Roman" panose="02020603050405020304" pitchFamily="18" charset="0"/>
              </a:rPr>
              <a:t>A. RAVDESS Dataset</a:t>
            </a:r>
          </a:p>
          <a:p>
            <a:pPr algn="just">
              <a:buNone/>
            </a:pPr>
            <a:r>
              <a:rPr lang="en-US" sz="2000" b="1" dirty="0">
                <a:latin typeface="Times New Roman" panose="02020603050405020304" pitchFamily="18" charset="0"/>
                <a:cs typeface="Times New Roman" panose="02020603050405020304" pitchFamily="18" charset="0"/>
              </a:rPr>
              <a:t>RAVDESS (Ryerson Audio-Visual Database of Emotional Speech and Song)</a:t>
            </a:r>
            <a:r>
              <a:rPr lang="en-US" sz="2000" dirty="0">
                <a:latin typeface="Times New Roman" panose="02020603050405020304" pitchFamily="18" charset="0"/>
                <a:cs typeface="Times New Roman" panose="02020603050405020304" pitchFamily="18" charset="0"/>
              </a:rPr>
              <a:t> is a high-quality, professionally recorded dataset.</a:t>
            </a:r>
          </a:p>
          <a:p>
            <a:pPr algn="just">
              <a:buNone/>
            </a:pPr>
            <a:r>
              <a:rPr lang="en-US" sz="2000" b="1" dirty="0">
                <a:latin typeface="Times New Roman" panose="02020603050405020304" pitchFamily="18" charset="0"/>
                <a:cs typeface="Times New Roman" panose="02020603050405020304" pitchFamily="18" charset="0"/>
              </a:rPr>
              <a:t>Dataset Details:</a:t>
            </a: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24 professional actors (male and female)</a:t>
            </a: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Multiple emotional categories including happy, sad, angry, fearful, disgust, surprised, and neutral</a:t>
            </a: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Clean, studio-quality recordings</a:t>
            </a:r>
          </a:p>
          <a:p>
            <a:pPr algn="just"/>
            <a:endParaRPr lang="en-US" sz="2000" dirty="0">
              <a:latin typeface="Times New Roman" panose="02020603050405020304" pitchFamily="18" charset="0"/>
              <a:cs typeface="Times New Roman" panose="02020603050405020304" pitchFamily="18" charset="0"/>
            </a:endParaRPr>
          </a:p>
          <a:p>
            <a:pPr algn="just">
              <a:buNone/>
            </a:pPr>
            <a:r>
              <a:rPr lang="en-US" sz="2000" b="1" dirty="0">
                <a:latin typeface="Times New Roman" panose="02020603050405020304" pitchFamily="18" charset="0"/>
                <a:cs typeface="Times New Roman" panose="02020603050405020304" pitchFamily="18" charset="0"/>
              </a:rPr>
              <a:t>Justification for Use:</a:t>
            </a: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Provides balanced and clearly labeled emotional speech</a:t>
            </a: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Helps the model learn variations in pitch, tone, and intensity associated with different emotions</a:t>
            </a:r>
          </a:p>
          <a:p>
            <a:pPr algn="just">
              <a:buNone/>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algn="just">
              <a:buNone/>
            </a:pPr>
            <a:r>
              <a:rPr lang="en-US" sz="2000" b="1" dirty="0">
                <a:latin typeface="Times New Roman" panose="02020603050405020304" pitchFamily="18" charset="0"/>
                <a:cs typeface="Times New Roman" panose="02020603050405020304" pitchFamily="18" charset="0"/>
              </a:rPr>
              <a:t>B. TESS Dataset</a:t>
            </a:r>
          </a:p>
          <a:p>
            <a:pPr algn="just">
              <a:buNone/>
            </a:pPr>
            <a:r>
              <a:rPr lang="en-US" sz="2000" b="1" dirty="0">
                <a:latin typeface="Times New Roman" panose="02020603050405020304" pitchFamily="18" charset="0"/>
                <a:cs typeface="Times New Roman" panose="02020603050405020304" pitchFamily="18" charset="0"/>
              </a:rPr>
              <a:t>TESS (Toronto Emotional Speech Set)</a:t>
            </a:r>
            <a:r>
              <a:rPr lang="en-US" sz="2000" dirty="0">
                <a:latin typeface="Times New Roman" panose="02020603050405020304" pitchFamily="18" charset="0"/>
                <a:cs typeface="Times New Roman" panose="02020603050405020304" pitchFamily="18" charset="0"/>
              </a:rPr>
              <a:t> focuses on clear emotional articulation.</a:t>
            </a:r>
          </a:p>
          <a:p>
            <a:pPr algn="just">
              <a:buNone/>
            </a:pPr>
            <a:r>
              <a:rPr lang="en-US" sz="2000" b="1" dirty="0">
                <a:latin typeface="Times New Roman" panose="02020603050405020304" pitchFamily="18" charset="0"/>
                <a:cs typeface="Times New Roman" panose="02020603050405020304" pitchFamily="18" charset="0"/>
              </a:rPr>
              <a:t>Dataset Details:</a:t>
            </a: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Emotion classes: happy, sad, angry, fear, disgust, surprise, and neutral</a:t>
            </a: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High clarity and consistency in speech samples</a:t>
            </a:r>
          </a:p>
          <a:p>
            <a:pPr algn="just">
              <a:buNone/>
            </a:pPr>
            <a:r>
              <a:rPr lang="en-US" sz="2000" b="1" dirty="0">
                <a:latin typeface="Times New Roman" panose="02020603050405020304" pitchFamily="18" charset="0"/>
                <a:cs typeface="Times New Roman" panose="02020603050405020304" pitchFamily="18" charset="0"/>
              </a:rPr>
              <a:t>Justification for Use:</a:t>
            </a: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Enhances emotion classification accuracy</a:t>
            </a: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Strengthens the model’s ability to distinguish closely related emotions</a:t>
            </a:r>
          </a:p>
        </p:txBody>
      </p:sp>
    </p:spTree>
    <p:extLst>
      <p:ext uri="{BB962C8B-B14F-4D97-AF65-F5344CB8AC3E}">
        <p14:creationId xmlns:p14="http://schemas.microsoft.com/office/powerpoint/2010/main" val="468415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D28FF-91F3-7E77-88BB-118A3705588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7912BC0-BFF8-D76D-EF47-16EB01C11918}"/>
              </a:ext>
            </a:extLst>
          </p:cNvPr>
          <p:cNvGrpSpPr/>
          <p:nvPr/>
        </p:nvGrpSpPr>
        <p:grpSpPr>
          <a:xfrm>
            <a:off x="12417447" y="7372841"/>
            <a:ext cx="8028675" cy="8028675"/>
            <a:chOff x="0" y="0"/>
            <a:chExt cx="812800" cy="812800"/>
          </a:xfrm>
        </p:grpSpPr>
        <p:sp>
          <p:nvSpPr>
            <p:cNvPr id="3" name="Freeform 3">
              <a:extLst>
                <a:ext uri="{FF2B5EF4-FFF2-40B4-BE49-F238E27FC236}">
                  <a16:creationId xmlns:a16="http://schemas.microsoft.com/office/drawing/2014/main" id="{2BA3A925-70A3-0C99-965D-0A75415EDE1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4" name="TextBox 4">
              <a:extLst>
                <a:ext uri="{FF2B5EF4-FFF2-40B4-BE49-F238E27FC236}">
                  <a16:creationId xmlns:a16="http://schemas.microsoft.com/office/drawing/2014/main" id="{6B4B5C73-26CC-9467-4691-145DC732263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a:extLst>
              <a:ext uri="{FF2B5EF4-FFF2-40B4-BE49-F238E27FC236}">
                <a16:creationId xmlns:a16="http://schemas.microsoft.com/office/drawing/2014/main" id="{599856F7-8BA5-7776-7D49-D1695672E18B}"/>
              </a:ext>
            </a:extLst>
          </p:cNvPr>
          <p:cNvSpPr/>
          <p:nvPr/>
        </p:nvSpPr>
        <p:spPr>
          <a:xfrm>
            <a:off x="914400" y="10020300"/>
            <a:ext cx="16185445" cy="0"/>
          </a:xfrm>
          <a:prstGeom prst="line">
            <a:avLst/>
          </a:prstGeom>
          <a:ln w="38100" cap="flat">
            <a:solidFill>
              <a:srgbClr val="2E3A44"/>
            </a:solidFill>
            <a:prstDash val="solid"/>
            <a:headEnd type="oval" w="lg" len="lg"/>
            <a:tailEnd type="oval" w="lg" len="lg"/>
          </a:ln>
        </p:spPr>
        <p:txBody>
          <a:bodyPr/>
          <a:lstStyle/>
          <a:p>
            <a:endParaRPr lang="en-IN" dirty="0"/>
          </a:p>
        </p:txBody>
      </p:sp>
      <p:grpSp>
        <p:nvGrpSpPr>
          <p:cNvPr id="6" name="Group 6">
            <a:extLst>
              <a:ext uri="{FF2B5EF4-FFF2-40B4-BE49-F238E27FC236}">
                <a16:creationId xmlns:a16="http://schemas.microsoft.com/office/drawing/2014/main" id="{411AEE76-18C5-2108-7D6E-F6521AAD01F0}"/>
              </a:ext>
            </a:extLst>
          </p:cNvPr>
          <p:cNvGrpSpPr/>
          <p:nvPr/>
        </p:nvGrpSpPr>
        <p:grpSpPr>
          <a:xfrm>
            <a:off x="322038" y="-1115182"/>
            <a:ext cx="2230365" cy="2230365"/>
            <a:chOff x="0" y="0"/>
            <a:chExt cx="812800" cy="812800"/>
          </a:xfrm>
        </p:grpSpPr>
        <p:sp>
          <p:nvSpPr>
            <p:cNvPr id="7" name="Freeform 7">
              <a:extLst>
                <a:ext uri="{FF2B5EF4-FFF2-40B4-BE49-F238E27FC236}">
                  <a16:creationId xmlns:a16="http://schemas.microsoft.com/office/drawing/2014/main" id="{A8B835CD-4C02-224C-3AD2-F50DD73067D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8" name="TextBox 8">
              <a:extLst>
                <a:ext uri="{FF2B5EF4-FFF2-40B4-BE49-F238E27FC236}">
                  <a16:creationId xmlns:a16="http://schemas.microsoft.com/office/drawing/2014/main" id="{42E4C2C9-D138-303C-B0CC-58A1CD9F32B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a:extLst>
              <a:ext uri="{FF2B5EF4-FFF2-40B4-BE49-F238E27FC236}">
                <a16:creationId xmlns:a16="http://schemas.microsoft.com/office/drawing/2014/main" id="{968AB80C-4099-32CF-9810-9E8E7CE21901}"/>
              </a:ext>
            </a:extLst>
          </p:cNvPr>
          <p:cNvSpPr txBox="1"/>
          <p:nvPr/>
        </p:nvSpPr>
        <p:spPr>
          <a:xfrm>
            <a:off x="2971800" y="-279813"/>
            <a:ext cx="11875096" cy="1151918"/>
          </a:xfrm>
          <a:prstGeom prst="rect">
            <a:avLst/>
          </a:prstGeom>
        </p:spPr>
        <p:txBody>
          <a:bodyPr wrap="square" lIns="0" tIns="0" rIns="0" bIns="0" rtlCol="0" anchor="t">
            <a:spAutoFit/>
          </a:bodyPr>
          <a:lstStyle/>
          <a:p>
            <a:pPr algn="ctr">
              <a:lnSpc>
                <a:spcPts val="10500"/>
              </a:lnSpc>
            </a:pPr>
            <a:r>
              <a:rPr lang="en-IN" sz="4000" b="1" dirty="0">
                <a:solidFill>
                  <a:srgbClr val="2E3A44"/>
                </a:solidFill>
                <a:latin typeface="Times New Roman" panose="02020603050405020304" pitchFamily="18" charset="0"/>
                <a:ea typeface="Nirand Bold"/>
                <a:cs typeface="Times New Roman" panose="02020603050405020304" pitchFamily="18" charset="0"/>
                <a:sym typeface="Nirand Bold"/>
              </a:rPr>
              <a:t>DATASET EXPLANATION</a:t>
            </a:r>
            <a:endParaRPr lang="en-US" sz="4000" b="1" dirty="0">
              <a:solidFill>
                <a:srgbClr val="2E3A44"/>
              </a:solidFill>
              <a:latin typeface="Times New Roman" panose="02020603050405020304" pitchFamily="18" charset="0"/>
              <a:ea typeface="Nirand Bold"/>
              <a:cs typeface="Times New Roman" panose="02020603050405020304" pitchFamily="18" charset="0"/>
              <a:sym typeface="Nirand Bold"/>
            </a:endParaRPr>
          </a:p>
        </p:txBody>
      </p:sp>
      <p:sp>
        <p:nvSpPr>
          <p:cNvPr id="11" name="TextBox 10">
            <a:extLst>
              <a:ext uri="{FF2B5EF4-FFF2-40B4-BE49-F238E27FC236}">
                <a16:creationId xmlns:a16="http://schemas.microsoft.com/office/drawing/2014/main" id="{2915BA60-587C-6C1B-9FE2-F990210CE198}"/>
              </a:ext>
            </a:extLst>
          </p:cNvPr>
          <p:cNvSpPr txBox="1"/>
          <p:nvPr/>
        </p:nvSpPr>
        <p:spPr>
          <a:xfrm>
            <a:off x="2343307" y="1491527"/>
            <a:ext cx="15887028" cy="7478970"/>
          </a:xfrm>
          <a:prstGeom prst="rect">
            <a:avLst/>
          </a:prstGeom>
          <a:noFill/>
        </p:spPr>
        <p:txBody>
          <a:bodyPr wrap="square">
            <a:spAutoFit/>
          </a:bodyPr>
          <a:lstStyle/>
          <a:p>
            <a:pPr algn="just">
              <a:buNone/>
            </a:pPr>
            <a:r>
              <a:rPr lang="en-US" sz="2000" b="1" dirty="0">
                <a:latin typeface="Times New Roman" panose="02020603050405020304" pitchFamily="18" charset="0"/>
                <a:cs typeface="Times New Roman" panose="02020603050405020304" pitchFamily="18" charset="0"/>
              </a:rPr>
              <a:t>2. Voice Emotion Datasets – RAVDESS and TESS</a:t>
            </a:r>
          </a:p>
          <a:p>
            <a:pPr algn="just">
              <a:buNone/>
            </a:pPr>
            <a:r>
              <a:rPr lang="en-US" sz="2000" dirty="0">
                <a:latin typeface="Times New Roman" panose="02020603050405020304" pitchFamily="18" charset="0"/>
                <a:cs typeface="Times New Roman" panose="02020603050405020304" pitchFamily="18" charset="0"/>
              </a:rPr>
              <a:t>To train the voice emotion recognition module, MAITRI uses multiple speech emotion datasets to improve model generalization and robustness.</a:t>
            </a:r>
          </a:p>
          <a:p>
            <a:pPr algn="just">
              <a:buNone/>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algn="just">
              <a:buNone/>
            </a:pPr>
            <a:r>
              <a:rPr lang="en-US" sz="2000" b="1" dirty="0">
                <a:latin typeface="Times New Roman" panose="02020603050405020304" pitchFamily="18" charset="0"/>
                <a:cs typeface="Times New Roman" panose="02020603050405020304" pitchFamily="18" charset="0"/>
              </a:rPr>
              <a:t>A. RAVDESS Dataset</a:t>
            </a:r>
          </a:p>
          <a:p>
            <a:pPr algn="just">
              <a:buNone/>
            </a:pPr>
            <a:r>
              <a:rPr lang="en-US" sz="2000" b="1" dirty="0">
                <a:latin typeface="Times New Roman" panose="02020603050405020304" pitchFamily="18" charset="0"/>
                <a:cs typeface="Times New Roman" panose="02020603050405020304" pitchFamily="18" charset="0"/>
              </a:rPr>
              <a:t>RAVDESS (Ryerson Audio-Visual Database of Emotional Speech and Song)</a:t>
            </a:r>
            <a:r>
              <a:rPr lang="en-US" sz="2000" dirty="0">
                <a:latin typeface="Times New Roman" panose="02020603050405020304" pitchFamily="18" charset="0"/>
                <a:cs typeface="Times New Roman" panose="02020603050405020304" pitchFamily="18" charset="0"/>
              </a:rPr>
              <a:t> is a high-quality, professionally recorded dataset.</a:t>
            </a:r>
          </a:p>
          <a:p>
            <a:pPr algn="just">
              <a:buNone/>
            </a:pPr>
            <a:r>
              <a:rPr lang="en-US" sz="2000" b="1" dirty="0">
                <a:latin typeface="Times New Roman" panose="02020603050405020304" pitchFamily="18" charset="0"/>
                <a:cs typeface="Times New Roman" panose="02020603050405020304" pitchFamily="18" charset="0"/>
              </a:rPr>
              <a:t>Dataset Details:</a:t>
            </a: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24 professional actors (male and female)</a:t>
            </a: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Multiple emotional categories including happy, sad, angry, fearful, disgust, surprised, and neutral</a:t>
            </a: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Clean, studio-quality recordings</a:t>
            </a:r>
          </a:p>
          <a:p>
            <a:pPr algn="just"/>
            <a:endParaRPr lang="en-US" sz="2000" dirty="0">
              <a:latin typeface="Times New Roman" panose="02020603050405020304" pitchFamily="18" charset="0"/>
              <a:cs typeface="Times New Roman" panose="02020603050405020304" pitchFamily="18" charset="0"/>
            </a:endParaRPr>
          </a:p>
          <a:p>
            <a:pPr algn="just">
              <a:buNone/>
            </a:pPr>
            <a:r>
              <a:rPr lang="en-US" sz="2000" b="1" dirty="0">
                <a:latin typeface="Times New Roman" panose="02020603050405020304" pitchFamily="18" charset="0"/>
                <a:cs typeface="Times New Roman" panose="02020603050405020304" pitchFamily="18" charset="0"/>
              </a:rPr>
              <a:t>Justification for Use:</a:t>
            </a: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Provides balanced and clearly labeled emotional speech</a:t>
            </a: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Helps the model learn variations in pitch, tone, and intensity associated with different emotions</a:t>
            </a:r>
          </a:p>
          <a:p>
            <a:pPr algn="just">
              <a:buNone/>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algn="just">
              <a:buNone/>
            </a:pPr>
            <a:r>
              <a:rPr lang="en-US" sz="2000" b="1" dirty="0">
                <a:latin typeface="Times New Roman" panose="02020603050405020304" pitchFamily="18" charset="0"/>
                <a:cs typeface="Times New Roman" panose="02020603050405020304" pitchFamily="18" charset="0"/>
              </a:rPr>
              <a:t>B. TESS Dataset</a:t>
            </a:r>
          </a:p>
          <a:p>
            <a:pPr algn="just">
              <a:buNone/>
            </a:pPr>
            <a:r>
              <a:rPr lang="en-US" sz="2000" b="1" dirty="0">
                <a:latin typeface="Times New Roman" panose="02020603050405020304" pitchFamily="18" charset="0"/>
                <a:cs typeface="Times New Roman" panose="02020603050405020304" pitchFamily="18" charset="0"/>
              </a:rPr>
              <a:t>TESS (Toronto Emotional Speech Set)</a:t>
            </a:r>
            <a:r>
              <a:rPr lang="en-US" sz="2000" dirty="0">
                <a:latin typeface="Times New Roman" panose="02020603050405020304" pitchFamily="18" charset="0"/>
                <a:cs typeface="Times New Roman" panose="02020603050405020304" pitchFamily="18" charset="0"/>
              </a:rPr>
              <a:t> focuses on clear emotional articulation.</a:t>
            </a:r>
          </a:p>
          <a:p>
            <a:pPr algn="just">
              <a:buNone/>
            </a:pPr>
            <a:r>
              <a:rPr lang="en-US" sz="2000" b="1" dirty="0">
                <a:latin typeface="Times New Roman" panose="02020603050405020304" pitchFamily="18" charset="0"/>
                <a:cs typeface="Times New Roman" panose="02020603050405020304" pitchFamily="18" charset="0"/>
              </a:rPr>
              <a:t>Dataset Details:</a:t>
            </a: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Emotion classes: happy, sad, angry, fear, disgust, surprise, and neutral</a:t>
            </a: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High clarity and consistency in speech samples</a:t>
            </a:r>
          </a:p>
          <a:p>
            <a:pPr algn="just">
              <a:buNone/>
            </a:pPr>
            <a:r>
              <a:rPr lang="en-US" sz="2000" b="1" dirty="0">
                <a:latin typeface="Times New Roman" panose="02020603050405020304" pitchFamily="18" charset="0"/>
                <a:cs typeface="Times New Roman" panose="02020603050405020304" pitchFamily="18" charset="0"/>
              </a:rPr>
              <a:t>Justification for Use:</a:t>
            </a: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Enhances emotion classification accuracy</a:t>
            </a: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Strengthens the model’s ability to distinguish closely related emotions</a:t>
            </a:r>
          </a:p>
        </p:txBody>
      </p:sp>
    </p:spTree>
    <p:extLst>
      <p:ext uri="{BB962C8B-B14F-4D97-AF65-F5344CB8AC3E}">
        <p14:creationId xmlns:p14="http://schemas.microsoft.com/office/powerpoint/2010/main" val="2693057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3EFCF-891A-0739-DE7A-BD087DCDFDA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15D3840-A1C1-D0C7-5B7E-D3944ABBD021}"/>
              </a:ext>
            </a:extLst>
          </p:cNvPr>
          <p:cNvGrpSpPr/>
          <p:nvPr/>
        </p:nvGrpSpPr>
        <p:grpSpPr>
          <a:xfrm>
            <a:off x="12417447" y="7372841"/>
            <a:ext cx="8028675" cy="8028675"/>
            <a:chOff x="0" y="0"/>
            <a:chExt cx="812800" cy="812800"/>
          </a:xfrm>
        </p:grpSpPr>
        <p:sp>
          <p:nvSpPr>
            <p:cNvPr id="3" name="Freeform 3">
              <a:extLst>
                <a:ext uri="{FF2B5EF4-FFF2-40B4-BE49-F238E27FC236}">
                  <a16:creationId xmlns:a16="http://schemas.microsoft.com/office/drawing/2014/main" id="{0789DAD0-9FA9-2DEB-C900-229D9774F66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4" name="TextBox 4">
              <a:extLst>
                <a:ext uri="{FF2B5EF4-FFF2-40B4-BE49-F238E27FC236}">
                  <a16:creationId xmlns:a16="http://schemas.microsoft.com/office/drawing/2014/main" id="{905EAD4F-F5F5-6425-1611-5A43C5F9E00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a:extLst>
              <a:ext uri="{FF2B5EF4-FFF2-40B4-BE49-F238E27FC236}">
                <a16:creationId xmlns:a16="http://schemas.microsoft.com/office/drawing/2014/main" id="{92BD5B18-5020-05C8-6FF1-C5A76ADD1173}"/>
              </a:ext>
            </a:extLst>
          </p:cNvPr>
          <p:cNvSpPr/>
          <p:nvPr/>
        </p:nvSpPr>
        <p:spPr>
          <a:xfrm>
            <a:off x="914400" y="10020300"/>
            <a:ext cx="16185445" cy="0"/>
          </a:xfrm>
          <a:prstGeom prst="line">
            <a:avLst/>
          </a:prstGeom>
          <a:ln w="38100" cap="flat">
            <a:solidFill>
              <a:srgbClr val="2E3A44"/>
            </a:solidFill>
            <a:prstDash val="solid"/>
            <a:headEnd type="oval" w="lg" len="lg"/>
            <a:tailEnd type="oval" w="lg" len="lg"/>
          </a:ln>
        </p:spPr>
        <p:txBody>
          <a:bodyPr/>
          <a:lstStyle/>
          <a:p>
            <a:endParaRPr lang="en-IN" dirty="0"/>
          </a:p>
        </p:txBody>
      </p:sp>
      <p:grpSp>
        <p:nvGrpSpPr>
          <p:cNvPr id="6" name="Group 6">
            <a:extLst>
              <a:ext uri="{FF2B5EF4-FFF2-40B4-BE49-F238E27FC236}">
                <a16:creationId xmlns:a16="http://schemas.microsoft.com/office/drawing/2014/main" id="{B866C284-444B-6B11-07A1-076D18E71003}"/>
              </a:ext>
            </a:extLst>
          </p:cNvPr>
          <p:cNvGrpSpPr/>
          <p:nvPr/>
        </p:nvGrpSpPr>
        <p:grpSpPr>
          <a:xfrm>
            <a:off x="322038" y="-1115182"/>
            <a:ext cx="2230365" cy="2230365"/>
            <a:chOff x="0" y="0"/>
            <a:chExt cx="812800" cy="812800"/>
          </a:xfrm>
        </p:grpSpPr>
        <p:sp>
          <p:nvSpPr>
            <p:cNvPr id="7" name="Freeform 7">
              <a:extLst>
                <a:ext uri="{FF2B5EF4-FFF2-40B4-BE49-F238E27FC236}">
                  <a16:creationId xmlns:a16="http://schemas.microsoft.com/office/drawing/2014/main" id="{213786F3-DDB1-9D80-2CA8-9357B88D2C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8" name="TextBox 8">
              <a:extLst>
                <a:ext uri="{FF2B5EF4-FFF2-40B4-BE49-F238E27FC236}">
                  <a16:creationId xmlns:a16="http://schemas.microsoft.com/office/drawing/2014/main" id="{4DB5F071-818F-E108-46A0-6C43CAB1B09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a:extLst>
              <a:ext uri="{FF2B5EF4-FFF2-40B4-BE49-F238E27FC236}">
                <a16:creationId xmlns:a16="http://schemas.microsoft.com/office/drawing/2014/main" id="{3F79C2D1-9928-F661-F014-408641F0F3AA}"/>
              </a:ext>
            </a:extLst>
          </p:cNvPr>
          <p:cNvSpPr txBox="1"/>
          <p:nvPr/>
        </p:nvSpPr>
        <p:spPr>
          <a:xfrm>
            <a:off x="2971800" y="-279813"/>
            <a:ext cx="11875096" cy="1151918"/>
          </a:xfrm>
          <a:prstGeom prst="rect">
            <a:avLst/>
          </a:prstGeom>
        </p:spPr>
        <p:txBody>
          <a:bodyPr wrap="square" lIns="0" tIns="0" rIns="0" bIns="0" rtlCol="0" anchor="t">
            <a:spAutoFit/>
          </a:bodyPr>
          <a:lstStyle/>
          <a:p>
            <a:pPr algn="ctr">
              <a:lnSpc>
                <a:spcPts val="10500"/>
              </a:lnSpc>
            </a:pPr>
            <a:r>
              <a:rPr lang="en-IN" sz="4000" b="1" dirty="0">
                <a:solidFill>
                  <a:srgbClr val="2E3A44"/>
                </a:solidFill>
                <a:latin typeface="Nirand Bold"/>
                <a:ea typeface="Nirand Bold"/>
                <a:cs typeface="Nirand Bold"/>
                <a:sym typeface="Nirand Bold"/>
              </a:rPr>
              <a:t>SYSTEM FLOW </a:t>
            </a:r>
            <a:endParaRPr lang="en-US" sz="4000" b="1" dirty="0">
              <a:solidFill>
                <a:srgbClr val="2E3A44"/>
              </a:solidFill>
              <a:latin typeface="Nirand Bold"/>
              <a:ea typeface="Nirand Bold"/>
              <a:cs typeface="Nirand Bold"/>
              <a:sym typeface="Nirand Bold"/>
            </a:endParaRPr>
          </a:p>
        </p:txBody>
      </p:sp>
      <p:pic>
        <p:nvPicPr>
          <p:cNvPr id="12" name="Picture 11">
            <a:extLst>
              <a:ext uri="{FF2B5EF4-FFF2-40B4-BE49-F238E27FC236}">
                <a16:creationId xmlns:a16="http://schemas.microsoft.com/office/drawing/2014/main" id="{FD0E84DB-8E82-CD3C-5C45-502A7A8971C1}"/>
              </a:ext>
            </a:extLst>
          </p:cNvPr>
          <p:cNvPicPr>
            <a:picLocks noChangeAspect="1"/>
          </p:cNvPicPr>
          <p:nvPr/>
        </p:nvPicPr>
        <p:blipFill>
          <a:blip r:embed="rId2"/>
          <a:stretch>
            <a:fillRect/>
          </a:stretch>
        </p:blipFill>
        <p:spPr>
          <a:xfrm>
            <a:off x="4564191" y="1485900"/>
            <a:ext cx="8229600" cy="7117892"/>
          </a:xfrm>
          <a:prstGeom prst="rect">
            <a:avLst/>
          </a:prstGeom>
        </p:spPr>
      </p:pic>
      <p:sp>
        <p:nvSpPr>
          <p:cNvPr id="13" name="TextBox 12">
            <a:extLst>
              <a:ext uri="{FF2B5EF4-FFF2-40B4-BE49-F238E27FC236}">
                <a16:creationId xmlns:a16="http://schemas.microsoft.com/office/drawing/2014/main" id="{6B0BA2DD-A144-A36A-4C1D-DF2667670703}"/>
              </a:ext>
            </a:extLst>
          </p:cNvPr>
          <p:cNvSpPr txBox="1"/>
          <p:nvPr/>
        </p:nvSpPr>
        <p:spPr>
          <a:xfrm>
            <a:off x="12039600" y="8039100"/>
            <a:ext cx="754191" cy="564692"/>
          </a:xfrm>
          <a:prstGeom prst="rect">
            <a:avLst/>
          </a:prstGeom>
          <a:solidFill>
            <a:schemeClr val="bg1">
              <a:lumMod val="95000"/>
            </a:schemeClr>
          </a:solidFill>
        </p:spPr>
        <p:txBody>
          <a:bodyPr wrap="square" rtlCol="0">
            <a:spAutoFit/>
          </a:bodyPr>
          <a:lstStyle/>
          <a:p>
            <a:endParaRPr lang="en-IN" dirty="0"/>
          </a:p>
        </p:txBody>
      </p:sp>
      <p:sp>
        <p:nvSpPr>
          <p:cNvPr id="14" name="TextBox 13">
            <a:extLst>
              <a:ext uri="{FF2B5EF4-FFF2-40B4-BE49-F238E27FC236}">
                <a16:creationId xmlns:a16="http://schemas.microsoft.com/office/drawing/2014/main" id="{69EA32C1-18FC-C5EE-971B-6D62A81B91A3}"/>
              </a:ext>
            </a:extLst>
          </p:cNvPr>
          <p:cNvSpPr txBox="1"/>
          <p:nvPr/>
        </p:nvSpPr>
        <p:spPr>
          <a:xfrm>
            <a:off x="4564191" y="8020200"/>
            <a:ext cx="754191" cy="564692"/>
          </a:xfrm>
          <a:prstGeom prst="rect">
            <a:avLst/>
          </a:prstGeom>
          <a:solidFill>
            <a:schemeClr val="bg1">
              <a:lumMod val="95000"/>
            </a:schemeClr>
          </a:solidFill>
        </p:spPr>
        <p:txBody>
          <a:bodyPr wrap="square" rtlCol="0">
            <a:spAutoFit/>
          </a:bodyPr>
          <a:lstStyle/>
          <a:p>
            <a:endParaRPr lang="en-IN" dirty="0"/>
          </a:p>
        </p:txBody>
      </p:sp>
      <p:sp>
        <p:nvSpPr>
          <p:cNvPr id="15" name="TextBox 14">
            <a:extLst>
              <a:ext uri="{FF2B5EF4-FFF2-40B4-BE49-F238E27FC236}">
                <a16:creationId xmlns:a16="http://schemas.microsoft.com/office/drawing/2014/main" id="{30BE8160-7E22-DFA4-BA42-185BE7D2D16E}"/>
              </a:ext>
            </a:extLst>
          </p:cNvPr>
          <p:cNvSpPr txBox="1"/>
          <p:nvPr/>
        </p:nvSpPr>
        <p:spPr>
          <a:xfrm>
            <a:off x="12058135" y="1485900"/>
            <a:ext cx="754191" cy="564692"/>
          </a:xfrm>
          <a:prstGeom prst="rect">
            <a:avLst/>
          </a:prstGeom>
          <a:solidFill>
            <a:schemeClr val="bg1">
              <a:lumMod val="95000"/>
            </a:schemeClr>
          </a:solidFill>
        </p:spPr>
        <p:txBody>
          <a:bodyPr wrap="square" rtlCol="0">
            <a:spAutoFit/>
          </a:bodyPr>
          <a:lstStyle/>
          <a:p>
            <a:endParaRPr lang="en-IN" dirty="0"/>
          </a:p>
        </p:txBody>
      </p:sp>
      <p:sp>
        <p:nvSpPr>
          <p:cNvPr id="16" name="TextBox 15">
            <a:extLst>
              <a:ext uri="{FF2B5EF4-FFF2-40B4-BE49-F238E27FC236}">
                <a16:creationId xmlns:a16="http://schemas.microsoft.com/office/drawing/2014/main" id="{A0AB5D35-28BA-5E62-BB14-D28E895A5B5E}"/>
              </a:ext>
            </a:extLst>
          </p:cNvPr>
          <p:cNvSpPr txBox="1"/>
          <p:nvPr/>
        </p:nvSpPr>
        <p:spPr>
          <a:xfrm>
            <a:off x="4564191" y="1485900"/>
            <a:ext cx="754191" cy="564692"/>
          </a:xfrm>
          <a:prstGeom prst="rect">
            <a:avLst/>
          </a:prstGeom>
          <a:solidFill>
            <a:schemeClr val="bg1">
              <a:lumMod val="95000"/>
            </a:schemeClr>
          </a:solidFill>
        </p:spPr>
        <p:txBody>
          <a:bodyPr wrap="square" rtlCol="0">
            <a:spAutoFit/>
          </a:bodyPr>
          <a:lstStyle/>
          <a:p>
            <a:endParaRPr lang="en-IN" dirty="0"/>
          </a:p>
        </p:txBody>
      </p:sp>
    </p:spTree>
    <p:extLst>
      <p:ext uri="{BB962C8B-B14F-4D97-AF65-F5344CB8AC3E}">
        <p14:creationId xmlns:p14="http://schemas.microsoft.com/office/powerpoint/2010/main" val="309459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3C0CC-5FDC-58D3-B187-072C42687FC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BCB1FE5-18CC-E09C-A2D1-07D4AA025665}"/>
              </a:ext>
            </a:extLst>
          </p:cNvPr>
          <p:cNvGrpSpPr/>
          <p:nvPr/>
        </p:nvGrpSpPr>
        <p:grpSpPr>
          <a:xfrm>
            <a:off x="12417447" y="7372841"/>
            <a:ext cx="8028675" cy="8028675"/>
            <a:chOff x="0" y="0"/>
            <a:chExt cx="812800" cy="812800"/>
          </a:xfrm>
        </p:grpSpPr>
        <p:sp>
          <p:nvSpPr>
            <p:cNvPr id="3" name="Freeform 3">
              <a:extLst>
                <a:ext uri="{FF2B5EF4-FFF2-40B4-BE49-F238E27FC236}">
                  <a16:creationId xmlns:a16="http://schemas.microsoft.com/office/drawing/2014/main" id="{38801CAB-BE34-12FF-1551-51383468C2E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4" name="TextBox 4">
              <a:extLst>
                <a:ext uri="{FF2B5EF4-FFF2-40B4-BE49-F238E27FC236}">
                  <a16:creationId xmlns:a16="http://schemas.microsoft.com/office/drawing/2014/main" id="{6306A362-9B8B-2AB6-EB8B-42FFA2B868C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a:extLst>
              <a:ext uri="{FF2B5EF4-FFF2-40B4-BE49-F238E27FC236}">
                <a16:creationId xmlns:a16="http://schemas.microsoft.com/office/drawing/2014/main" id="{00F9F403-AFB2-13B3-79C8-8F3074B49F8D}"/>
              </a:ext>
            </a:extLst>
          </p:cNvPr>
          <p:cNvSpPr/>
          <p:nvPr/>
        </p:nvSpPr>
        <p:spPr>
          <a:xfrm>
            <a:off x="914400" y="10020300"/>
            <a:ext cx="16185445" cy="0"/>
          </a:xfrm>
          <a:prstGeom prst="line">
            <a:avLst/>
          </a:prstGeom>
          <a:ln w="38100" cap="flat">
            <a:solidFill>
              <a:srgbClr val="2E3A44"/>
            </a:solidFill>
            <a:prstDash val="solid"/>
            <a:headEnd type="oval" w="lg" len="lg"/>
            <a:tailEnd type="oval" w="lg" len="lg"/>
          </a:ln>
        </p:spPr>
        <p:txBody>
          <a:bodyPr/>
          <a:lstStyle/>
          <a:p>
            <a:endParaRPr lang="en-IN" dirty="0"/>
          </a:p>
        </p:txBody>
      </p:sp>
      <p:grpSp>
        <p:nvGrpSpPr>
          <p:cNvPr id="6" name="Group 6">
            <a:extLst>
              <a:ext uri="{FF2B5EF4-FFF2-40B4-BE49-F238E27FC236}">
                <a16:creationId xmlns:a16="http://schemas.microsoft.com/office/drawing/2014/main" id="{B131327F-F446-9404-3EB6-C2439CCCE6F9}"/>
              </a:ext>
            </a:extLst>
          </p:cNvPr>
          <p:cNvGrpSpPr/>
          <p:nvPr/>
        </p:nvGrpSpPr>
        <p:grpSpPr>
          <a:xfrm>
            <a:off x="322038" y="-1115182"/>
            <a:ext cx="2230365" cy="2230365"/>
            <a:chOff x="0" y="0"/>
            <a:chExt cx="812800" cy="812800"/>
          </a:xfrm>
        </p:grpSpPr>
        <p:sp>
          <p:nvSpPr>
            <p:cNvPr id="7" name="Freeform 7">
              <a:extLst>
                <a:ext uri="{FF2B5EF4-FFF2-40B4-BE49-F238E27FC236}">
                  <a16:creationId xmlns:a16="http://schemas.microsoft.com/office/drawing/2014/main" id="{193319BE-CBBC-29B7-5624-D5349EA0EBD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8" name="TextBox 8">
              <a:extLst>
                <a:ext uri="{FF2B5EF4-FFF2-40B4-BE49-F238E27FC236}">
                  <a16:creationId xmlns:a16="http://schemas.microsoft.com/office/drawing/2014/main" id="{D966A775-F418-CC20-E2B0-F630370F939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a:extLst>
              <a:ext uri="{FF2B5EF4-FFF2-40B4-BE49-F238E27FC236}">
                <a16:creationId xmlns:a16="http://schemas.microsoft.com/office/drawing/2014/main" id="{5F24BAFF-7B48-AECA-46BC-3388961AF64E}"/>
              </a:ext>
            </a:extLst>
          </p:cNvPr>
          <p:cNvSpPr txBox="1"/>
          <p:nvPr/>
        </p:nvSpPr>
        <p:spPr>
          <a:xfrm>
            <a:off x="2971800" y="-279813"/>
            <a:ext cx="11875096" cy="1151918"/>
          </a:xfrm>
          <a:prstGeom prst="rect">
            <a:avLst/>
          </a:prstGeom>
        </p:spPr>
        <p:txBody>
          <a:bodyPr wrap="square" lIns="0" tIns="0" rIns="0" bIns="0" rtlCol="0" anchor="t">
            <a:spAutoFit/>
          </a:bodyPr>
          <a:lstStyle/>
          <a:p>
            <a:pPr algn="ctr">
              <a:lnSpc>
                <a:spcPts val="10500"/>
              </a:lnSpc>
            </a:pPr>
            <a:r>
              <a:rPr lang="en-IN" sz="4000" b="1" dirty="0">
                <a:solidFill>
                  <a:srgbClr val="2E3A44"/>
                </a:solidFill>
                <a:latin typeface="Nirand Bold"/>
                <a:ea typeface="Nirand Bold"/>
                <a:cs typeface="Nirand Bold"/>
                <a:sym typeface="Nirand Bold"/>
              </a:rPr>
              <a:t>SYSTEM FLOW </a:t>
            </a:r>
            <a:endParaRPr lang="en-US" sz="4000" b="1" dirty="0">
              <a:solidFill>
                <a:srgbClr val="2E3A44"/>
              </a:solidFill>
              <a:latin typeface="Nirand Bold"/>
              <a:ea typeface="Nirand Bold"/>
              <a:cs typeface="Nirand Bold"/>
              <a:sym typeface="Nirand Bold"/>
            </a:endParaRPr>
          </a:p>
        </p:txBody>
      </p:sp>
      <p:sp>
        <p:nvSpPr>
          <p:cNvPr id="13" name="TextBox 12">
            <a:extLst>
              <a:ext uri="{FF2B5EF4-FFF2-40B4-BE49-F238E27FC236}">
                <a16:creationId xmlns:a16="http://schemas.microsoft.com/office/drawing/2014/main" id="{049D94CD-17CE-948B-6D48-57F6DD096D8E}"/>
              </a:ext>
            </a:extLst>
          </p:cNvPr>
          <p:cNvSpPr txBox="1"/>
          <p:nvPr/>
        </p:nvSpPr>
        <p:spPr>
          <a:xfrm>
            <a:off x="12039600" y="8039100"/>
            <a:ext cx="754191" cy="564692"/>
          </a:xfrm>
          <a:prstGeom prst="rect">
            <a:avLst/>
          </a:prstGeom>
          <a:solidFill>
            <a:schemeClr val="bg1">
              <a:lumMod val="95000"/>
            </a:schemeClr>
          </a:solidFill>
        </p:spPr>
        <p:txBody>
          <a:bodyPr wrap="square" rtlCol="0">
            <a:spAutoFit/>
          </a:bodyPr>
          <a:lstStyle/>
          <a:p>
            <a:endParaRPr lang="en-IN" dirty="0"/>
          </a:p>
        </p:txBody>
      </p:sp>
      <p:sp>
        <p:nvSpPr>
          <p:cNvPr id="14" name="TextBox 13">
            <a:extLst>
              <a:ext uri="{FF2B5EF4-FFF2-40B4-BE49-F238E27FC236}">
                <a16:creationId xmlns:a16="http://schemas.microsoft.com/office/drawing/2014/main" id="{1853C275-1AA1-13C6-DB65-0D1EE2DE0973}"/>
              </a:ext>
            </a:extLst>
          </p:cNvPr>
          <p:cNvSpPr txBox="1"/>
          <p:nvPr/>
        </p:nvSpPr>
        <p:spPr>
          <a:xfrm>
            <a:off x="4564191" y="8020200"/>
            <a:ext cx="754191" cy="564692"/>
          </a:xfrm>
          <a:prstGeom prst="rect">
            <a:avLst/>
          </a:prstGeom>
          <a:solidFill>
            <a:schemeClr val="bg1">
              <a:lumMod val="95000"/>
            </a:schemeClr>
          </a:solidFill>
        </p:spPr>
        <p:txBody>
          <a:bodyPr wrap="square" rtlCol="0">
            <a:spAutoFit/>
          </a:bodyPr>
          <a:lstStyle/>
          <a:p>
            <a:endParaRPr lang="en-IN" dirty="0"/>
          </a:p>
        </p:txBody>
      </p:sp>
      <p:sp>
        <p:nvSpPr>
          <p:cNvPr id="15" name="TextBox 14">
            <a:extLst>
              <a:ext uri="{FF2B5EF4-FFF2-40B4-BE49-F238E27FC236}">
                <a16:creationId xmlns:a16="http://schemas.microsoft.com/office/drawing/2014/main" id="{5B68921F-1A10-B921-E0CB-3EA1F139C891}"/>
              </a:ext>
            </a:extLst>
          </p:cNvPr>
          <p:cNvSpPr txBox="1"/>
          <p:nvPr/>
        </p:nvSpPr>
        <p:spPr>
          <a:xfrm>
            <a:off x="12058135" y="1485900"/>
            <a:ext cx="754191" cy="564692"/>
          </a:xfrm>
          <a:prstGeom prst="rect">
            <a:avLst/>
          </a:prstGeom>
          <a:solidFill>
            <a:schemeClr val="bg1">
              <a:lumMod val="95000"/>
            </a:schemeClr>
          </a:solidFill>
        </p:spPr>
        <p:txBody>
          <a:bodyPr wrap="square" rtlCol="0">
            <a:spAutoFit/>
          </a:bodyPr>
          <a:lstStyle/>
          <a:p>
            <a:endParaRPr lang="en-IN" dirty="0"/>
          </a:p>
        </p:txBody>
      </p:sp>
      <p:sp>
        <p:nvSpPr>
          <p:cNvPr id="16" name="TextBox 15">
            <a:extLst>
              <a:ext uri="{FF2B5EF4-FFF2-40B4-BE49-F238E27FC236}">
                <a16:creationId xmlns:a16="http://schemas.microsoft.com/office/drawing/2014/main" id="{9D90FDAD-99F7-6845-E51F-2C34D50E82DE}"/>
              </a:ext>
            </a:extLst>
          </p:cNvPr>
          <p:cNvSpPr txBox="1"/>
          <p:nvPr/>
        </p:nvSpPr>
        <p:spPr>
          <a:xfrm>
            <a:off x="4564191" y="1485900"/>
            <a:ext cx="754191" cy="564692"/>
          </a:xfrm>
          <a:prstGeom prst="rect">
            <a:avLst/>
          </a:prstGeom>
          <a:solidFill>
            <a:schemeClr val="bg1">
              <a:lumMod val="95000"/>
            </a:schemeClr>
          </a:solidFill>
        </p:spPr>
        <p:txBody>
          <a:bodyPr wrap="square" rtlCol="0">
            <a:spAutoFit/>
          </a:bodyPr>
          <a:lstStyle/>
          <a:p>
            <a:endParaRPr lang="en-IN" dirty="0"/>
          </a:p>
        </p:txBody>
      </p:sp>
      <p:sp>
        <p:nvSpPr>
          <p:cNvPr id="11" name="TextBox 10">
            <a:extLst>
              <a:ext uri="{FF2B5EF4-FFF2-40B4-BE49-F238E27FC236}">
                <a16:creationId xmlns:a16="http://schemas.microsoft.com/office/drawing/2014/main" id="{CCA01631-47A6-8B77-3258-B6BC6D9EFF6A}"/>
              </a:ext>
            </a:extLst>
          </p:cNvPr>
          <p:cNvSpPr txBox="1"/>
          <p:nvPr/>
        </p:nvSpPr>
        <p:spPr>
          <a:xfrm>
            <a:off x="3505200" y="1439207"/>
            <a:ext cx="12268200" cy="6961970"/>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user opens the </a:t>
            </a:r>
            <a:r>
              <a:rPr lang="en-US" sz="2000" b="1" dirty="0">
                <a:latin typeface="Times New Roman" panose="02020603050405020304" pitchFamily="18" charset="0"/>
                <a:cs typeface="Times New Roman" panose="02020603050405020304" pitchFamily="18" charset="0"/>
              </a:rPr>
              <a:t>MAITRI web application</a:t>
            </a:r>
            <a:r>
              <a:rPr lang="en-US" sz="2000" dirty="0">
                <a:latin typeface="Times New Roman" panose="02020603050405020304" pitchFamily="18" charset="0"/>
                <a:cs typeface="Times New Roman" panose="02020603050405020304" pitchFamily="18" charset="0"/>
              </a:rPr>
              <a:t> through a browser.</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system asks the user to </a:t>
            </a:r>
            <a:r>
              <a:rPr lang="en-US" sz="2000" b="1" dirty="0">
                <a:latin typeface="Times New Roman" panose="02020603050405020304" pitchFamily="18" charset="0"/>
                <a:cs typeface="Times New Roman" panose="02020603050405020304" pitchFamily="18" charset="0"/>
              </a:rPr>
              <a:t>select an interaction mode</a:t>
            </a:r>
            <a:r>
              <a:rPr lang="en-US" sz="2000" dirty="0">
                <a:latin typeface="Times New Roman" panose="02020603050405020304" pitchFamily="18" charset="0"/>
                <a:cs typeface="Times New Roman" panose="02020603050405020304" pitchFamily="18" charset="0"/>
              </a:rPr>
              <a:t>, which can be facial emotion detection, voice emotion analysis, or chat-based mood check-in.</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If the </a:t>
            </a:r>
            <a:r>
              <a:rPr lang="en-US" sz="2000" b="1" dirty="0">
                <a:latin typeface="Times New Roman" panose="02020603050405020304" pitchFamily="18" charset="0"/>
                <a:cs typeface="Times New Roman" panose="02020603050405020304" pitchFamily="18" charset="0"/>
              </a:rPr>
              <a:t>face mode</a:t>
            </a:r>
            <a:r>
              <a:rPr lang="en-US" sz="2000" dirty="0">
                <a:latin typeface="Times New Roman" panose="02020603050405020304" pitchFamily="18" charset="0"/>
                <a:cs typeface="Times New Roman" panose="02020603050405020304" pitchFamily="18" charset="0"/>
              </a:rPr>
              <a:t> is selected, the system captures facial input using the webcam and processes the image.</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processed facial image is passed to a </a:t>
            </a:r>
            <a:r>
              <a:rPr lang="en-US" sz="2000" b="1" dirty="0">
                <a:latin typeface="Times New Roman" panose="02020603050405020304" pitchFamily="18" charset="0"/>
                <a:cs typeface="Times New Roman" panose="02020603050405020304" pitchFamily="18" charset="0"/>
              </a:rPr>
              <a:t>CNN model</a:t>
            </a:r>
            <a:r>
              <a:rPr lang="en-US" sz="2000" dirty="0">
                <a:latin typeface="Times New Roman" panose="02020603050405020304" pitchFamily="18" charset="0"/>
                <a:cs typeface="Times New Roman" panose="02020603050405020304" pitchFamily="18" charset="0"/>
              </a:rPr>
              <a:t>, which detects the user’s facial emotion.</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If the </a:t>
            </a:r>
            <a:r>
              <a:rPr lang="en-US" sz="2000" b="1" dirty="0">
                <a:latin typeface="Times New Roman" panose="02020603050405020304" pitchFamily="18" charset="0"/>
                <a:cs typeface="Times New Roman" panose="02020603050405020304" pitchFamily="18" charset="0"/>
              </a:rPr>
              <a:t>voice mode</a:t>
            </a:r>
            <a:r>
              <a:rPr lang="en-US" sz="2000" dirty="0">
                <a:latin typeface="Times New Roman" panose="02020603050405020304" pitchFamily="18" charset="0"/>
                <a:cs typeface="Times New Roman" panose="02020603050405020304" pitchFamily="18" charset="0"/>
              </a:rPr>
              <a:t> is selected, the system records voice input using a microphone.</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recorded audio is analyzed using a </a:t>
            </a:r>
            <a:r>
              <a:rPr lang="en-US" sz="2000" b="1" dirty="0" err="1">
                <a:latin typeface="Times New Roman" panose="02020603050405020304" pitchFamily="18" charset="0"/>
                <a:cs typeface="Times New Roman" panose="02020603050405020304" pitchFamily="18" charset="0"/>
              </a:rPr>
              <a:t>HuBERT</a:t>
            </a:r>
            <a:r>
              <a:rPr lang="en-US" sz="2000" b="1" dirty="0">
                <a:latin typeface="Times New Roman" panose="02020603050405020304" pitchFamily="18" charset="0"/>
                <a:cs typeface="Times New Roman" panose="02020603050405020304" pitchFamily="18" charset="0"/>
              </a:rPr>
              <a:t>-based model</a:t>
            </a:r>
            <a:r>
              <a:rPr lang="en-US" sz="2000" dirty="0">
                <a:latin typeface="Times New Roman" panose="02020603050405020304" pitchFamily="18" charset="0"/>
                <a:cs typeface="Times New Roman" panose="02020603050405020304" pitchFamily="18" charset="0"/>
              </a:rPr>
              <a:t> to detect emotions from speech patterns.</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detected emotion from the face or voice module is generated as the </a:t>
            </a:r>
            <a:r>
              <a:rPr lang="en-US" sz="2000" b="1" dirty="0">
                <a:latin typeface="Times New Roman" panose="02020603050405020304" pitchFamily="18" charset="0"/>
                <a:cs typeface="Times New Roman" panose="02020603050405020304" pitchFamily="18" charset="0"/>
              </a:rPr>
              <a:t>emotion detection output</a:t>
            </a:r>
            <a:r>
              <a:rPr lang="en-US" sz="2000" dirty="0">
                <a:latin typeface="Times New Roman" panose="02020603050405020304" pitchFamily="18" charset="0"/>
                <a:cs typeface="Times New Roman" panose="02020603050405020304" pitchFamily="18" charset="0"/>
              </a:rPr>
              <a:t>.</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system then uses a </a:t>
            </a:r>
            <a:r>
              <a:rPr lang="en-US" sz="2000" b="1" dirty="0">
                <a:latin typeface="Times New Roman" panose="02020603050405020304" pitchFamily="18" charset="0"/>
                <a:cs typeface="Times New Roman" panose="02020603050405020304" pitchFamily="18" charset="0"/>
              </a:rPr>
              <a:t>chat or mood check-in module</a:t>
            </a:r>
            <a:r>
              <a:rPr lang="en-US" sz="2000" dirty="0">
                <a:latin typeface="Times New Roman" panose="02020603050405020304" pitchFamily="18" charset="0"/>
                <a:cs typeface="Times New Roman" panose="02020603050405020304" pitchFamily="18" charset="0"/>
              </a:rPr>
              <a:t>, where a large language model analyzes the emotional context of the user.</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Emotional information from face, voice, and chat inputs is </a:t>
            </a:r>
            <a:r>
              <a:rPr lang="en-US" sz="2000" b="1" dirty="0">
                <a:latin typeface="Times New Roman" panose="02020603050405020304" pitchFamily="18" charset="0"/>
                <a:cs typeface="Times New Roman" panose="02020603050405020304" pitchFamily="18" charset="0"/>
              </a:rPr>
              <a:t>integrated</a:t>
            </a:r>
            <a:r>
              <a:rPr lang="en-US" sz="2000" dirty="0">
                <a:latin typeface="Times New Roman" panose="02020603050405020304" pitchFamily="18" charset="0"/>
                <a:cs typeface="Times New Roman" panose="02020603050405020304" pitchFamily="18" charset="0"/>
              </a:rPr>
              <a:t> to understand the user’s overall emotional state.</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Based on the integrated emotional context, the AI system generates an </a:t>
            </a:r>
            <a:r>
              <a:rPr lang="en-US" sz="2000" b="1" dirty="0">
                <a:latin typeface="Times New Roman" panose="02020603050405020304" pitchFamily="18" charset="0"/>
                <a:cs typeface="Times New Roman" panose="02020603050405020304" pitchFamily="18" charset="0"/>
              </a:rPr>
              <a:t>empathetic and supportive response</a:t>
            </a:r>
            <a:r>
              <a:rPr lang="en-US" sz="2000" dirty="0">
                <a:latin typeface="Times New Roman" panose="02020603050405020304" pitchFamily="18" charset="0"/>
                <a:cs typeface="Times New Roman" panose="02020603050405020304" pitchFamily="18" charset="0"/>
              </a:rPr>
              <a:t>.</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response is displayed to the user in the form of </a:t>
            </a:r>
            <a:r>
              <a:rPr lang="en-US" sz="2000" b="1" dirty="0">
                <a:latin typeface="Times New Roman" panose="02020603050405020304" pitchFamily="18" charset="0"/>
                <a:cs typeface="Times New Roman" panose="02020603050405020304" pitchFamily="18" charset="0"/>
              </a:rPr>
              <a:t>supportive Hinglish text</a:t>
            </a:r>
            <a:r>
              <a:rPr lang="en-US" sz="2000" dirty="0">
                <a:latin typeface="Times New Roman" panose="02020603050405020304" pitchFamily="18" charset="0"/>
                <a:cs typeface="Times New Roman" panose="02020603050405020304" pitchFamily="18" charset="0"/>
              </a:rPr>
              <a:t>.</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process ends without storing any user data, ensuring </a:t>
            </a:r>
            <a:r>
              <a:rPr lang="en-US" sz="2000" b="1" dirty="0">
                <a:latin typeface="Times New Roman" panose="02020603050405020304" pitchFamily="18" charset="0"/>
                <a:cs typeface="Times New Roman" panose="02020603050405020304" pitchFamily="18" charset="0"/>
              </a:rPr>
              <a:t>privacy and security</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46009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702D3-4DB6-6889-E009-46BCD038B4A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5A8645B-ABCB-ABE3-3AA0-77D5DBE35C07}"/>
              </a:ext>
            </a:extLst>
          </p:cNvPr>
          <p:cNvGrpSpPr/>
          <p:nvPr/>
        </p:nvGrpSpPr>
        <p:grpSpPr>
          <a:xfrm>
            <a:off x="12417447" y="7372841"/>
            <a:ext cx="8028675" cy="8028675"/>
            <a:chOff x="0" y="0"/>
            <a:chExt cx="812800" cy="812800"/>
          </a:xfrm>
        </p:grpSpPr>
        <p:sp>
          <p:nvSpPr>
            <p:cNvPr id="3" name="Freeform 3">
              <a:extLst>
                <a:ext uri="{FF2B5EF4-FFF2-40B4-BE49-F238E27FC236}">
                  <a16:creationId xmlns:a16="http://schemas.microsoft.com/office/drawing/2014/main" id="{E6781DD4-DDC1-587C-44DB-7A78AE59349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4" name="TextBox 4">
              <a:extLst>
                <a:ext uri="{FF2B5EF4-FFF2-40B4-BE49-F238E27FC236}">
                  <a16:creationId xmlns:a16="http://schemas.microsoft.com/office/drawing/2014/main" id="{0D0B0B22-E177-D7F0-C718-34119E90A00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a:extLst>
              <a:ext uri="{FF2B5EF4-FFF2-40B4-BE49-F238E27FC236}">
                <a16:creationId xmlns:a16="http://schemas.microsoft.com/office/drawing/2014/main" id="{ABC18887-FFA8-99FC-3793-80CEE6B52D7E}"/>
              </a:ext>
            </a:extLst>
          </p:cNvPr>
          <p:cNvSpPr/>
          <p:nvPr/>
        </p:nvSpPr>
        <p:spPr>
          <a:xfrm>
            <a:off x="914400" y="10020300"/>
            <a:ext cx="16185445" cy="0"/>
          </a:xfrm>
          <a:prstGeom prst="line">
            <a:avLst/>
          </a:prstGeom>
          <a:ln w="38100" cap="flat">
            <a:solidFill>
              <a:srgbClr val="2E3A44"/>
            </a:solidFill>
            <a:prstDash val="solid"/>
            <a:headEnd type="oval" w="lg" len="lg"/>
            <a:tailEnd type="oval" w="lg" len="lg"/>
          </a:ln>
        </p:spPr>
        <p:txBody>
          <a:bodyPr/>
          <a:lstStyle/>
          <a:p>
            <a:endParaRPr lang="en-IN" dirty="0"/>
          </a:p>
        </p:txBody>
      </p:sp>
      <p:grpSp>
        <p:nvGrpSpPr>
          <p:cNvPr id="6" name="Group 6">
            <a:extLst>
              <a:ext uri="{FF2B5EF4-FFF2-40B4-BE49-F238E27FC236}">
                <a16:creationId xmlns:a16="http://schemas.microsoft.com/office/drawing/2014/main" id="{A3144B8F-0301-5CCC-FD82-701F8ECD549E}"/>
              </a:ext>
            </a:extLst>
          </p:cNvPr>
          <p:cNvGrpSpPr/>
          <p:nvPr/>
        </p:nvGrpSpPr>
        <p:grpSpPr>
          <a:xfrm>
            <a:off x="322038" y="-1115182"/>
            <a:ext cx="2230365" cy="2230365"/>
            <a:chOff x="0" y="0"/>
            <a:chExt cx="812800" cy="812800"/>
          </a:xfrm>
        </p:grpSpPr>
        <p:sp>
          <p:nvSpPr>
            <p:cNvPr id="7" name="Freeform 7">
              <a:extLst>
                <a:ext uri="{FF2B5EF4-FFF2-40B4-BE49-F238E27FC236}">
                  <a16:creationId xmlns:a16="http://schemas.microsoft.com/office/drawing/2014/main" id="{F0010CAC-6F59-4953-A061-8F7D35F7100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8" name="TextBox 8">
              <a:extLst>
                <a:ext uri="{FF2B5EF4-FFF2-40B4-BE49-F238E27FC236}">
                  <a16:creationId xmlns:a16="http://schemas.microsoft.com/office/drawing/2014/main" id="{0594A320-D9C8-01D4-2154-097A26C19C0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a:extLst>
              <a:ext uri="{FF2B5EF4-FFF2-40B4-BE49-F238E27FC236}">
                <a16:creationId xmlns:a16="http://schemas.microsoft.com/office/drawing/2014/main" id="{C2410BA9-9F7C-AA68-6C95-8D4D6A86F4E9}"/>
              </a:ext>
            </a:extLst>
          </p:cNvPr>
          <p:cNvSpPr txBox="1"/>
          <p:nvPr/>
        </p:nvSpPr>
        <p:spPr>
          <a:xfrm>
            <a:off x="2971800" y="-279813"/>
            <a:ext cx="11875096" cy="1151918"/>
          </a:xfrm>
          <a:prstGeom prst="rect">
            <a:avLst/>
          </a:prstGeom>
        </p:spPr>
        <p:txBody>
          <a:bodyPr wrap="square" lIns="0" tIns="0" rIns="0" bIns="0" rtlCol="0" anchor="t">
            <a:spAutoFit/>
          </a:bodyPr>
          <a:lstStyle/>
          <a:p>
            <a:pPr algn="ctr">
              <a:lnSpc>
                <a:spcPts val="10500"/>
              </a:lnSpc>
            </a:pPr>
            <a:r>
              <a:rPr lang="en-IN" sz="4000" b="1" dirty="0">
                <a:solidFill>
                  <a:srgbClr val="2E3A44"/>
                </a:solidFill>
                <a:latin typeface="Nirand Bold"/>
                <a:ea typeface="Nirand Bold"/>
                <a:cs typeface="Nirand Bold"/>
                <a:sym typeface="Nirand Bold"/>
              </a:rPr>
              <a:t>SYSTEM SCREENSHOTS </a:t>
            </a:r>
            <a:endParaRPr lang="en-US" sz="4000" b="1" dirty="0">
              <a:solidFill>
                <a:srgbClr val="2E3A44"/>
              </a:solidFill>
              <a:latin typeface="Nirand Bold"/>
              <a:ea typeface="Nirand Bold"/>
              <a:cs typeface="Nirand Bold"/>
              <a:sym typeface="Nirand Bold"/>
            </a:endParaRPr>
          </a:p>
        </p:txBody>
      </p:sp>
      <p:sp>
        <p:nvSpPr>
          <p:cNvPr id="13" name="TextBox 12">
            <a:extLst>
              <a:ext uri="{FF2B5EF4-FFF2-40B4-BE49-F238E27FC236}">
                <a16:creationId xmlns:a16="http://schemas.microsoft.com/office/drawing/2014/main" id="{8CEFB3B3-35BF-B74C-97CC-21EBAB488376}"/>
              </a:ext>
            </a:extLst>
          </p:cNvPr>
          <p:cNvSpPr txBox="1"/>
          <p:nvPr/>
        </p:nvSpPr>
        <p:spPr>
          <a:xfrm>
            <a:off x="12039600" y="8039100"/>
            <a:ext cx="754191" cy="564692"/>
          </a:xfrm>
          <a:prstGeom prst="rect">
            <a:avLst/>
          </a:prstGeom>
          <a:solidFill>
            <a:schemeClr val="bg1">
              <a:lumMod val="95000"/>
            </a:schemeClr>
          </a:solidFill>
        </p:spPr>
        <p:txBody>
          <a:bodyPr wrap="square" rtlCol="0">
            <a:spAutoFit/>
          </a:bodyPr>
          <a:lstStyle/>
          <a:p>
            <a:endParaRPr lang="en-IN" dirty="0"/>
          </a:p>
        </p:txBody>
      </p:sp>
      <p:sp>
        <p:nvSpPr>
          <p:cNvPr id="14" name="TextBox 13">
            <a:extLst>
              <a:ext uri="{FF2B5EF4-FFF2-40B4-BE49-F238E27FC236}">
                <a16:creationId xmlns:a16="http://schemas.microsoft.com/office/drawing/2014/main" id="{45C9B4CB-A15E-5C18-773C-275C78969C36}"/>
              </a:ext>
            </a:extLst>
          </p:cNvPr>
          <p:cNvSpPr txBox="1"/>
          <p:nvPr/>
        </p:nvSpPr>
        <p:spPr>
          <a:xfrm>
            <a:off x="4564191" y="8020200"/>
            <a:ext cx="754191" cy="564692"/>
          </a:xfrm>
          <a:prstGeom prst="rect">
            <a:avLst/>
          </a:prstGeom>
          <a:solidFill>
            <a:schemeClr val="bg1">
              <a:lumMod val="95000"/>
            </a:schemeClr>
          </a:solidFill>
        </p:spPr>
        <p:txBody>
          <a:bodyPr wrap="square" rtlCol="0">
            <a:spAutoFit/>
          </a:bodyPr>
          <a:lstStyle/>
          <a:p>
            <a:endParaRPr lang="en-IN" dirty="0"/>
          </a:p>
        </p:txBody>
      </p:sp>
      <p:sp>
        <p:nvSpPr>
          <p:cNvPr id="15" name="TextBox 14">
            <a:extLst>
              <a:ext uri="{FF2B5EF4-FFF2-40B4-BE49-F238E27FC236}">
                <a16:creationId xmlns:a16="http://schemas.microsoft.com/office/drawing/2014/main" id="{D14495ED-EEAB-6ECA-5935-8B356B0CCFAB}"/>
              </a:ext>
            </a:extLst>
          </p:cNvPr>
          <p:cNvSpPr txBox="1"/>
          <p:nvPr/>
        </p:nvSpPr>
        <p:spPr>
          <a:xfrm>
            <a:off x="12058135" y="1485900"/>
            <a:ext cx="754191" cy="564692"/>
          </a:xfrm>
          <a:prstGeom prst="rect">
            <a:avLst/>
          </a:prstGeom>
          <a:solidFill>
            <a:schemeClr val="bg1">
              <a:lumMod val="95000"/>
            </a:schemeClr>
          </a:solidFill>
        </p:spPr>
        <p:txBody>
          <a:bodyPr wrap="square" rtlCol="0">
            <a:spAutoFit/>
          </a:bodyPr>
          <a:lstStyle/>
          <a:p>
            <a:endParaRPr lang="en-IN" dirty="0"/>
          </a:p>
        </p:txBody>
      </p:sp>
      <p:sp>
        <p:nvSpPr>
          <p:cNvPr id="16" name="TextBox 15">
            <a:extLst>
              <a:ext uri="{FF2B5EF4-FFF2-40B4-BE49-F238E27FC236}">
                <a16:creationId xmlns:a16="http://schemas.microsoft.com/office/drawing/2014/main" id="{75EAFD1C-487E-FFD7-41C0-B03F48EE2074}"/>
              </a:ext>
            </a:extLst>
          </p:cNvPr>
          <p:cNvSpPr txBox="1"/>
          <p:nvPr/>
        </p:nvSpPr>
        <p:spPr>
          <a:xfrm>
            <a:off x="4564191" y="1485900"/>
            <a:ext cx="754191" cy="564692"/>
          </a:xfrm>
          <a:prstGeom prst="rect">
            <a:avLst/>
          </a:prstGeom>
          <a:solidFill>
            <a:schemeClr val="bg1">
              <a:lumMod val="95000"/>
            </a:schemeClr>
          </a:solidFill>
        </p:spPr>
        <p:txBody>
          <a:bodyPr wrap="square" rtlCol="0">
            <a:spAutoFit/>
          </a:bodyPr>
          <a:lstStyle/>
          <a:p>
            <a:endParaRPr lang="en-IN" dirty="0"/>
          </a:p>
        </p:txBody>
      </p:sp>
      <p:pic>
        <p:nvPicPr>
          <p:cNvPr id="12" name="Picture 11">
            <a:extLst>
              <a:ext uri="{FF2B5EF4-FFF2-40B4-BE49-F238E27FC236}">
                <a16:creationId xmlns:a16="http://schemas.microsoft.com/office/drawing/2014/main" id="{3E27B1AE-1003-067A-7217-ED4928F3E6A9}"/>
              </a:ext>
            </a:extLst>
          </p:cNvPr>
          <p:cNvPicPr>
            <a:picLocks noChangeAspect="1"/>
          </p:cNvPicPr>
          <p:nvPr/>
        </p:nvPicPr>
        <p:blipFill>
          <a:blip r:embed="rId2"/>
          <a:stretch>
            <a:fillRect/>
          </a:stretch>
        </p:blipFill>
        <p:spPr>
          <a:xfrm>
            <a:off x="2732780" y="1456810"/>
            <a:ext cx="12822439" cy="7373379"/>
          </a:xfrm>
          <a:prstGeom prst="rect">
            <a:avLst/>
          </a:prstGeom>
        </p:spPr>
      </p:pic>
    </p:spTree>
    <p:extLst>
      <p:ext uri="{BB962C8B-B14F-4D97-AF65-F5344CB8AC3E}">
        <p14:creationId xmlns:p14="http://schemas.microsoft.com/office/powerpoint/2010/main" val="1208833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2F906-2067-CB9C-A8AC-911964B1A0D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E1C9EEE-00B8-FA44-A360-C2055C8554CE}"/>
              </a:ext>
            </a:extLst>
          </p:cNvPr>
          <p:cNvGrpSpPr/>
          <p:nvPr/>
        </p:nvGrpSpPr>
        <p:grpSpPr>
          <a:xfrm>
            <a:off x="12417447" y="7372841"/>
            <a:ext cx="8028675" cy="8028675"/>
            <a:chOff x="0" y="0"/>
            <a:chExt cx="812800" cy="812800"/>
          </a:xfrm>
        </p:grpSpPr>
        <p:sp>
          <p:nvSpPr>
            <p:cNvPr id="3" name="Freeform 3">
              <a:extLst>
                <a:ext uri="{FF2B5EF4-FFF2-40B4-BE49-F238E27FC236}">
                  <a16:creationId xmlns:a16="http://schemas.microsoft.com/office/drawing/2014/main" id="{DB0FE0D0-ABC0-736A-FC56-E028192589B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4" name="TextBox 4">
              <a:extLst>
                <a:ext uri="{FF2B5EF4-FFF2-40B4-BE49-F238E27FC236}">
                  <a16:creationId xmlns:a16="http://schemas.microsoft.com/office/drawing/2014/main" id="{02E569D6-0BB5-C86F-8698-CCF8E388BB7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a:extLst>
              <a:ext uri="{FF2B5EF4-FFF2-40B4-BE49-F238E27FC236}">
                <a16:creationId xmlns:a16="http://schemas.microsoft.com/office/drawing/2014/main" id="{6E9608DB-1356-284D-B9BF-CAE049B5C508}"/>
              </a:ext>
            </a:extLst>
          </p:cNvPr>
          <p:cNvSpPr/>
          <p:nvPr/>
        </p:nvSpPr>
        <p:spPr>
          <a:xfrm>
            <a:off x="914400" y="10020300"/>
            <a:ext cx="16185445" cy="0"/>
          </a:xfrm>
          <a:prstGeom prst="line">
            <a:avLst/>
          </a:prstGeom>
          <a:ln w="38100" cap="flat">
            <a:solidFill>
              <a:srgbClr val="2E3A44"/>
            </a:solidFill>
            <a:prstDash val="solid"/>
            <a:headEnd type="oval" w="lg" len="lg"/>
            <a:tailEnd type="oval" w="lg" len="lg"/>
          </a:ln>
        </p:spPr>
        <p:txBody>
          <a:bodyPr/>
          <a:lstStyle/>
          <a:p>
            <a:endParaRPr lang="en-IN" dirty="0"/>
          </a:p>
        </p:txBody>
      </p:sp>
      <p:grpSp>
        <p:nvGrpSpPr>
          <p:cNvPr id="6" name="Group 6">
            <a:extLst>
              <a:ext uri="{FF2B5EF4-FFF2-40B4-BE49-F238E27FC236}">
                <a16:creationId xmlns:a16="http://schemas.microsoft.com/office/drawing/2014/main" id="{5F486329-33A2-F75F-FF90-6752AF1ABB38}"/>
              </a:ext>
            </a:extLst>
          </p:cNvPr>
          <p:cNvGrpSpPr/>
          <p:nvPr/>
        </p:nvGrpSpPr>
        <p:grpSpPr>
          <a:xfrm>
            <a:off x="322038" y="-1115182"/>
            <a:ext cx="2230365" cy="2230365"/>
            <a:chOff x="0" y="0"/>
            <a:chExt cx="812800" cy="812800"/>
          </a:xfrm>
        </p:grpSpPr>
        <p:sp>
          <p:nvSpPr>
            <p:cNvPr id="7" name="Freeform 7">
              <a:extLst>
                <a:ext uri="{FF2B5EF4-FFF2-40B4-BE49-F238E27FC236}">
                  <a16:creationId xmlns:a16="http://schemas.microsoft.com/office/drawing/2014/main" id="{7CE4D35A-C072-0948-11DA-3D4BE4E1AD2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8" name="TextBox 8">
              <a:extLst>
                <a:ext uri="{FF2B5EF4-FFF2-40B4-BE49-F238E27FC236}">
                  <a16:creationId xmlns:a16="http://schemas.microsoft.com/office/drawing/2014/main" id="{6DB65A76-1B57-1A75-5D37-A728EAFA179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a:extLst>
              <a:ext uri="{FF2B5EF4-FFF2-40B4-BE49-F238E27FC236}">
                <a16:creationId xmlns:a16="http://schemas.microsoft.com/office/drawing/2014/main" id="{F59A242A-78A7-A5B3-0E9A-A048A8EE634D}"/>
              </a:ext>
            </a:extLst>
          </p:cNvPr>
          <p:cNvSpPr txBox="1"/>
          <p:nvPr/>
        </p:nvSpPr>
        <p:spPr>
          <a:xfrm>
            <a:off x="2971800" y="-279813"/>
            <a:ext cx="11875096" cy="1151918"/>
          </a:xfrm>
          <a:prstGeom prst="rect">
            <a:avLst/>
          </a:prstGeom>
        </p:spPr>
        <p:txBody>
          <a:bodyPr wrap="square" lIns="0" tIns="0" rIns="0" bIns="0" rtlCol="0" anchor="t">
            <a:spAutoFit/>
          </a:bodyPr>
          <a:lstStyle/>
          <a:p>
            <a:pPr algn="ctr">
              <a:lnSpc>
                <a:spcPts val="10500"/>
              </a:lnSpc>
            </a:pPr>
            <a:r>
              <a:rPr lang="en-IN" sz="4000" b="1" dirty="0">
                <a:solidFill>
                  <a:srgbClr val="2E3A44"/>
                </a:solidFill>
                <a:latin typeface="Nirand Bold"/>
                <a:ea typeface="Nirand Bold"/>
                <a:cs typeface="Nirand Bold"/>
                <a:sym typeface="Nirand Bold"/>
              </a:rPr>
              <a:t>SYSTEM SCREENSHOTS </a:t>
            </a:r>
            <a:endParaRPr lang="en-US" sz="4000" b="1" dirty="0">
              <a:solidFill>
                <a:srgbClr val="2E3A44"/>
              </a:solidFill>
              <a:latin typeface="Nirand Bold"/>
              <a:ea typeface="Nirand Bold"/>
              <a:cs typeface="Nirand Bold"/>
              <a:sym typeface="Nirand Bold"/>
            </a:endParaRPr>
          </a:p>
        </p:txBody>
      </p:sp>
      <p:sp>
        <p:nvSpPr>
          <p:cNvPr id="13" name="TextBox 12">
            <a:extLst>
              <a:ext uri="{FF2B5EF4-FFF2-40B4-BE49-F238E27FC236}">
                <a16:creationId xmlns:a16="http://schemas.microsoft.com/office/drawing/2014/main" id="{9862072B-318C-0E5C-E122-4EB33213688E}"/>
              </a:ext>
            </a:extLst>
          </p:cNvPr>
          <p:cNvSpPr txBox="1"/>
          <p:nvPr/>
        </p:nvSpPr>
        <p:spPr>
          <a:xfrm>
            <a:off x="12039600" y="8039100"/>
            <a:ext cx="754191" cy="564692"/>
          </a:xfrm>
          <a:prstGeom prst="rect">
            <a:avLst/>
          </a:prstGeom>
          <a:solidFill>
            <a:schemeClr val="bg1">
              <a:lumMod val="95000"/>
            </a:schemeClr>
          </a:solidFill>
        </p:spPr>
        <p:txBody>
          <a:bodyPr wrap="square" rtlCol="0">
            <a:spAutoFit/>
          </a:bodyPr>
          <a:lstStyle/>
          <a:p>
            <a:endParaRPr lang="en-IN" dirty="0"/>
          </a:p>
        </p:txBody>
      </p:sp>
      <p:sp>
        <p:nvSpPr>
          <p:cNvPr id="14" name="TextBox 13">
            <a:extLst>
              <a:ext uri="{FF2B5EF4-FFF2-40B4-BE49-F238E27FC236}">
                <a16:creationId xmlns:a16="http://schemas.microsoft.com/office/drawing/2014/main" id="{9D110F02-CBDF-3904-8E9D-5B80ECF18B19}"/>
              </a:ext>
            </a:extLst>
          </p:cNvPr>
          <p:cNvSpPr txBox="1"/>
          <p:nvPr/>
        </p:nvSpPr>
        <p:spPr>
          <a:xfrm>
            <a:off x="4564191" y="8020200"/>
            <a:ext cx="754191" cy="564692"/>
          </a:xfrm>
          <a:prstGeom prst="rect">
            <a:avLst/>
          </a:prstGeom>
          <a:solidFill>
            <a:schemeClr val="bg1">
              <a:lumMod val="95000"/>
            </a:schemeClr>
          </a:solidFill>
        </p:spPr>
        <p:txBody>
          <a:bodyPr wrap="square" rtlCol="0">
            <a:spAutoFit/>
          </a:bodyPr>
          <a:lstStyle/>
          <a:p>
            <a:endParaRPr lang="en-IN" dirty="0"/>
          </a:p>
        </p:txBody>
      </p:sp>
      <p:sp>
        <p:nvSpPr>
          <p:cNvPr id="15" name="TextBox 14">
            <a:extLst>
              <a:ext uri="{FF2B5EF4-FFF2-40B4-BE49-F238E27FC236}">
                <a16:creationId xmlns:a16="http://schemas.microsoft.com/office/drawing/2014/main" id="{44369718-3738-973F-E189-E64A5B40B9E6}"/>
              </a:ext>
            </a:extLst>
          </p:cNvPr>
          <p:cNvSpPr txBox="1"/>
          <p:nvPr/>
        </p:nvSpPr>
        <p:spPr>
          <a:xfrm>
            <a:off x="12058135" y="1485900"/>
            <a:ext cx="754191" cy="564692"/>
          </a:xfrm>
          <a:prstGeom prst="rect">
            <a:avLst/>
          </a:prstGeom>
          <a:solidFill>
            <a:schemeClr val="bg1">
              <a:lumMod val="95000"/>
            </a:schemeClr>
          </a:solidFill>
        </p:spPr>
        <p:txBody>
          <a:bodyPr wrap="square" rtlCol="0">
            <a:spAutoFit/>
          </a:bodyPr>
          <a:lstStyle/>
          <a:p>
            <a:endParaRPr lang="en-IN" dirty="0"/>
          </a:p>
        </p:txBody>
      </p:sp>
      <p:sp>
        <p:nvSpPr>
          <p:cNvPr id="16" name="TextBox 15">
            <a:extLst>
              <a:ext uri="{FF2B5EF4-FFF2-40B4-BE49-F238E27FC236}">
                <a16:creationId xmlns:a16="http://schemas.microsoft.com/office/drawing/2014/main" id="{50B775E8-410D-E222-B8AE-30CDE5C931F0}"/>
              </a:ext>
            </a:extLst>
          </p:cNvPr>
          <p:cNvSpPr txBox="1"/>
          <p:nvPr/>
        </p:nvSpPr>
        <p:spPr>
          <a:xfrm>
            <a:off x="4564191" y="1485900"/>
            <a:ext cx="754191" cy="564692"/>
          </a:xfrm>
          <a:prstGeom prst="rect">
            <a:avLst/>
          </a:prstGeom>
          <a:solidFill>
            <a:schemeClr val="bg1">
              <a:lumMod val="95000"/>
            </a:schemeClr>
          </a:solidFill>
        </p:spPr>
        <p:txBody>
          <a:bodyPr wrap="square" rtlCol="0">
            <a:spAutoFit/>
          </a:bodyPr>
          <a:lstStyle/>
          <a:p>
            <a:endParaRPr lang="en-IN" dirty="0"/>
          </a:p>
        </p:txBody>
      </p:sp>
      <p:pic>
        <p:nvPicPr>
          <p:cNvPr id="10" name="Picture 9">
            <a:extLst>
              <a:ext uri="{FF2B5EF4-FFF2-40B4-BE49-F238E27FC236}">
                <a16:creationId xmlns:a16="http://schemas.microsoft.com/office/drawing/2014/main" id="{9367873D-0862-88F6-6835-BBB8658BFA02}"/>
              </a:ext>
            </a:extLst>
          </p:cNvPr>
          <p:cNvPicPr>
            <a:picLocks noChangeAspect="1"/>
          </p:cNvPicPr>
          <p:nvPr/>
        </p:nvPicPr>
        <p:blipFill>
          <a:blip r:embed="rId2"/>
          <a:stretch>
            <a:fillRect/>
          </a:stretch>
        </p:blipFill>
        <p:spPr>
          <a:xfrm>
            <a:off x="3857450" y="1768246"/>
            <a:ext cx="10020929" cy="5604591"/>
          </a:xfrm>
          <a:prstGeom prst="rect">
            <a:avLst/>
          </a:prstGeom>
        </p:spPr>
      </p:pic>
    </p:spTree>
    <p:extLst>
      <p:ext uri="{BB962C8B-B14F-4D97-AF65-F5344CB8AC3E}">
        <p14:creationId xmlns:p14="http://schemas.microsoft.com/office/powerpoint/2010/main" val="31307915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61B07-7D48-566B-3C71-69EB0E803F7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B084D75-FE35-E054-0E9E-7A61C50575AE}"/>
              </a:ext>
            </a:extLst>
          </p:cNvPr>
          <p:cNvGrpSpPr/>
          <p:nvPr/>
        </p:nvGrpSpPr>
        <p:grpSpPr>
          <a:xfrm>
            <a:off x="12417447" y="7372841"/>
            <a:ext cx="8028675" cy="8028675"/>
            <a:chOff x="0" y="0"/>
            <a:chExt cx="812800" cy="812800"/>
          </a:xfrm>
        </p:grpSpPr>
        <p:sp>
          <p:nvSpPr>
            <p:cNvPr id="3" name="Freeform 3">
              <a:extLst>
                <a:ext uri="{FF2B5EF4-FFF2-40B4-BE49-F238E27FC236}">
                  <a16:creationId xmlns:a16="http://schemas.microsoft.com/office/drawing/2014/main" id="{A7922298-F7B8-AC1C-0151-E370EFB73D5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4" name="TextBox 4">
              <a:extLst>
                <a:ext uri="{FF2B5EF4-FFF2-40B4-BE49-F238E27FC236}">
                  <a16:creationId xmlns:a16="http://schemas.microsoft.com/office/drawing/2014/main" id="{03D27B8F-DA81-7746-8A4E-1E1E26400B5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a:extLst>
              <a:ext uri="{FF2B5EF4-FFF2-40B4-BE49-F238E27FC236}">
                <a16:creationId xmlns:a16="http://schemas.microsoft.com/office/drawing/2014/main" id="{686F7056-BC06-9DC6-2A78-FB16290C256D}"/>
              </a:ext>
            </a:extLst>
          </p:cNvPr>
          <p:cNvSpPr/>
          <p:nvPr/>
        </p:nvSpPr>
        <p:spPr>
          <a:xfrm>
            <a:off x="914400" y="10020300"/>
            <a:ext cx="16185445" cy="0"/>
          </a:xfrm>
          <a:prstGeom prst="line">
            <a:avLst/>
          </a:prstGeom>
          <a:ln w="38100" cap="flat">
            <a:solidFill>
              <a:srgbClr val="2E3A44"/>
            </a:solidFill>
            <a:prstDash val="solid"/>
            <a:headEnd type="oval" w="lg" len="lg"/>
            <a:tailEnd type="oval" w="lg" len="lg"/>
          </a:ln>
        </p:spPr>
        <p:txBody>
          <a:bodyPr/>
          <a:lstStyle/>
          <a:p>
            <a:endParaRPr lang="en-IN" dirty="0"/>
          </a:p>
        </p:txBody>
      </p:sp>
      <p:grpSp>
        <p:nvGrpSpPr>
          <p:cNvPr id="6" name="Group 6">
            <a:extLst>
              <a:ext uri="{FF2B5EF4-FFF2-40B4-BE49-F238E27FC236}">
                <a16:creationId xmlns:a16="http://schemas.microsoft.com/office/drawing/2014/main" id="{F23F4099-6A41-ECF0-685E-B45D2B8A6020}"/>
              </a:ext>
            </a:extLst>
          </p:cNvPr>
          <p:cNvGrpSpPr/>
          <p:nvPr/>
        </p:nvGrpSpPr>
        <p:grpSpPr>
          <a:xfrm>
            <a:off x="322038" y="-1115182"/>
            <a:ext cx="2230365" cy="2230365"/>
            <a:chOff x="0" y="0"/>
            <a:chExt cx="812800" cy="812800"/>
          </a:xfrm>
        </p:grpSpPr>
        <p:sp>
          <p:nvSpPr>
            <p:cNvPr id="7" name="Freeform 7">
              <a:extLst>
                <a:ext uri="{FF2B5EF4-FFF2-40B4-BE49-F238E27FC236}">
                  <a16:creationId xmlns:a16="http://schemas.microsoft.com/office/drawing/2014/main" id="{3339AF23-B558-9F4F-B318-19D49CB34B5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8" name="TextBox 8">
              <a:extLst>
                <a:ext uri="{FF2B5EF4-FFF2-40B4-BE49-F238E27FC236}">
                  <a16:creationId xmlns:a16="http://schemas.microsoft.com/office/drawing/2014/main" id="{3F490764-224C-792C-934A-C5AD5EC1E1C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a:extLst>
              <a:ext uri="{FF2B5EF4-FFF2-40B4-BE49-F238E27FC236}">
                <a16:creationId xmlns:a16="http://schemas.microsoft.com/office/drawing/2014/main" id="{EE89FB58-C98A-AA08-6D13-DB1A98BF6AB2}"/>
              </a:ext>
            </a:extLst>
          </p:cNvPr>
          <p:cNvSpPr txBox="1"/>
          <p:nvPr/>
        </p:nvSpPr>
        <p:spPr>
          <a:xfrm>
            <a:off x="2971800" y="-279813"/>
            <a:ext cx="11875096" cy="1151918"/>
          </a:xfrm>
          <a:prstGeom prst="rect">
            <a:avLst/>
          </a:prstGeom>
        </p:spPr>
        <p:txBody>
          <a:bodyPr wrap="square" lIns="0" tIns="0" rIns="0" bIns="0" rtlCol="0" anchor="t">
            <a:spAutoFit/>
          </a:bodyPr>
          <a:lstStyle/>
          <a:p>
            <a:pPr algn="ctr">
              <a:lnSpc>
                <a:spcPts val="10500"/>
              </a:lnSpc>
            </a:pPr>
            <a:r>
              <a:rPr lang="en-IN" sz="4000" b="1" dirty="0">
                <a:solidFill>
                  <a:srgbClr val="2E3A44"/>
                </a:solidFill>
                <a:latin typeface="Nirand Bold"/>
                <a:ea typeface="Nirand Bold"/>
                <a:cs typeface="Nirand Bold"/>
                <a:sym typeface="Nirand Bold"/>
              </a:rPr>
              <a:t>SYSTEM SCREENSHOTS </a:t>
            </a:r>
            <a:endParaRPr lang="en-US" sz="4000" b="1" dirty="0">
              <a:solidFill>
                <a:srgbClr val="2E3A44"/>
              </a:solidFill>
              <a:latin typeface="Nirand Bold"/>
              <a:ea typeface="Nirand Bold"/>
              <a:cs typeface="Nirand Bold"/>
              <a:sym typeface="Nirand Bold"/>
            </a:endParaRPr>
          </a:p>
        </p:txBody>
      </p:sp>
      <p:sp>
        <p:nvSpPr>
          <p:cNvPr id="13" name="TextBox 12">
            <a:extLst>
              <a:ext uri="{FF2B5EF4-FFF2-40B4-BE49-F238E27FC236}">
                <a16:creationId xmlns:a16="http://schemas.microsoft.com/office/drawing/2014/main" id="{D9D11D57-3E08-81C0-5E3B-D193D616CB3B}"/>
              </a:ext>
            </a:extLst>
          </p:cNvPr>
          <p:cNvSpPr txBox="1"/>
          <p:nvPr/>
        </p:nvSpPr>
        <p:spPr>
          <a:xfrm>
            <a:off x="12039600" y="8039100"/>
            <a:ext cx="754191" cy="564692"/>
          </a:xfrm>
          <a:prstGeom prst="rect">
            <a:avLst/>
          </a:prstGeom>
          <a:solidFill>
            <a:schemeClr val="bg1">
              <a:lumMod val="95000"/>
            </a:schemeClr>
          </a:solidFill>
        </p:spPr>
        <p:txBody>
          <a:bodyPr wrap="square" rtlCol="0">
            <a:spAutoFit/>
          </a:bodyPr>
          <a:lstStyle/>
          <a:p>
            <a:endParaRPr lang="en-IN" dirty="0"/>
          </a:p>
        </p:txBody>
      </p:sp>
      <p:sp>
        <p:nvSpPr>
          <p:cNvPr id="14" name="TextBox 13">
            <a:extLst>
              <a:ext uri="{FF2B5EF4-FFF2-40B4-BE49-F238E27FC236}">
                <a16:creationId xmlns:a16="http://schemas.microsoft.com/office/drawing/2014/main" id="{F7BF6994-CDA5-1D36-0BB1-E793DB734148}"/>
              </a:ext>
            </a:extLst>
          </p:cNvPr>
          <p:cNvSpPr txBox="1"/>
          <p:nvPr/>
        </p:nvSpPr>
        <p:spPr>
          <a:xfrm>
            <a:off x="4564191" y="8020200"/>
            <a:ext cx="754191" cy="564692"/>
          </a:xfrm>
          <a:prstGeom prst="rect">
            <a:avLst/>
          </a:prstGeom>
          <a:solidFill>
            <a:schemeClr val="bg1">
              <a:lumMod val="95000"/>
            </a:schemeClr>
          </a:solidFill>
        </p:spPr>
        <p:txBody>
          <a:bodyPr wrap="square" rtlCol="0">
            <a:spAutoFit/>
          </a:bodyPr>
          <a:lstStyle/>
          <a:p>
            <a:endParaRPr lang="en-IN" dirty="0"/>
          </a:p>
        </p:txBody>
      </p:sp>
      <p:sp>
        <p:nvSpPr>
          <p:cNvPr id="15" name="TextBox 14">
            <a:extLst>
              <a:ext uri="{FF2B5EF4-FFF2-40B4-BE49-F238E27FC236}">
                <a16:creationId xmlns:a16="http://schemas.microsoft.com/office/drawing/2014/main" id="{5E43CED0-5867-0BDB-C788-C3D689F12507}"/>
              </a:ext>
            </a:extLst>
          </p:cNvPr>
          <p:cNvSpPr txBox="1"/>
          <p:nvPr/>
        </p:nvSpPr>
        <p:spPr>
          <a:xfrm>
            <a:off x="12058135" y="1485900"/>
            <a:ext cx="754191" cy="564692"/>
          </a:xfrm>
          <a:prstGeom prst="rect">
            <a:avLst/>
          </a:prstGeom>
          <a:solidFill>
            <a:schemeClr val="bg1">
              <a:lumMod val="95000"/>
            </a:schemeClr>
          </a:solidFill>
        </p:spPr>
        <p:txBody>
          <a:bodyPr wrap="square" rtlCol="0">
            <a:spAutoFit/>
          </a:bodyPr>
          <a:lstStyle/>
          <a:p>
            <a:endParaRPr lang="en-IN" dirty="0"/>
          </a:p>
        </p:txBody>
      </p:sp>
      <p:sp>
        <p:nvSpPr>
          <p:cNvPr id="16" name="TextBox 15">
            <a:extLst>
              <a:ext uri="{FF2B5EF4-FFF2-40B4-BE49-F238E27FC236}">
                <a16:creationId xmlns:a16="http://schemas.microsoft.com/office/drawing/2014/main" id="{5F9BCB53-036C-ADC9-89A0-24F2A8D27407}"/>
              </a:ext>
            </a:extLst>
          </p:cNvPr>
          <p:cNvSpPr txBox="1"/>
          <p:nvPr/>
        </p:nvSpPr>
        <p:spPr>
          <a:xfrm>
            <a:off x="4564191" y="1485900"/>
            <a:ext cx="754191" cy="564692"/>
          </a:xfrm>
          <a:prstGeom prst="rect">
            <a:avLst/>
          </a:prstGeom>
          <a:solidFill>
            <a:schemeClr val="bg1">
              <a:lumMod val="95000"/>
            </a:schemeClr>
          </a:solidFill>
        </p:spPr>
        <p:txBody>
          <a:bodyPr wrap="square" rtlCol="0">
            <a:spAutoFit/>
          </a:bodyPr>
          <a:lstStyle/>
          <a:p>
            <a:endParaRPr lang="en-IN" dirty="0"/>
          </a:p>
        </p:txBody>
      </p:sp>
      <p:pic>
        <p:nvPicPr>
          <p:cNvPr id="11" name="Picture 10">
            <a:extLst>
              <a:ext uri="{FF2B5EF4-FFF2-40B4-BE49-F238E27FC236}">
                <a16:creationId xmlns:a16="http://schemas.microsoft.com/office/drawing/2014/main" id="{CD5CAA10-6B94-627C-6E76-D5ACF4B5CD84}"/>
              </a:ext>
            </a:extLst>
          </p:cNvPr>
          <p:cNvPicPr>
            <a:picLocks noChangeAspect="1"/>
          </p:cNvPicPr>
          <p:nvPr/>
        </p:nvPicPr>
        <p:blipFill>
          <a:blip r:embed="rId2"/>
          <a:stretch>
            <a:fillRect/>
          </a:stretch>
        </p:blipFill>
        <p:spPr>
          <a:xfrm>
            <a:off x="3914223" y="1680484"/>
            <a:ext cx="9907383" cy="5839640"/>
          </a:xfrm>
          <a:prstGeom prst="rect">
            <a:avLst/>
          </a:prstGeom>
        </p:spPr>
      </p:pic>
    </p:spTree>
    <p:extLst>
      <p:ext uri="{BB962C8B-B14F-4D97-AF65-F5344CB8AC3E}">
        <p14:creationId xmlns:p14="http://schemas.microsoft.com/office/powerpoint/2010/main" val="3028012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9782A-08E5-2EA4-F97F-BDA3D1AE817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59C3522-CA6B-8D18-9CA8-5B7FBEA6D3F5}"/>
              </a:ext>
            </a:extLst>
          </p:cNvPr>
          <p:cNvGrpSpPr/>
          <p:nvPr/>
        </p:nvGrpSpPr>
        <p:grpSpPr>
          <a:xfrm>
            <a:off x="12417447" y="7372841"/>
            <a:ext cx="8028675" cy="8028675"/>
            <a:chOff x="0" y="0"/>
            <a:chExt cx="812800" cy="812800"/>
          </a:xfrm>
        </p:grpSpPr>
        <p:sp>
          <p:nvSpPr>
            <p:cNvPr id="3" name="Freeform 3">
              <a:extLst>
                <a:ext uri="{FF2B5EF4-FFF2-40B4-BE49-F238E27FC236}">
                  <a16:creationId xmlns:a16="http://schemas.microsoft.com/office/drawing/2014/main" id="{D28E293F-CDBE-CFD9-49AD-DD635121BEF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4" name="TextBox 4">
              <a:extLst>
                <a:ext uri="{FF2B5EF4-FFF2-40B4-BE49-F238E27FC236}">
                  <a16:creationId xmlns:a16="http://schemas.microsoft.com/office/drawing/2014/main" id="{E10753D1-A0DD-C3A4-22D5-11571038BC3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a:extLst>
              <a:ext uri="{FF2B5EF4-FFF2-40B4-BE49-F238E27FC236}">
                <a16:creationId xmlns:a16="http://schemas.microsoft.com/office/drawing/2014/main" id="{E5F3E5A2-0178-A34A-94C8-E561568CFF2F}"/>
              </a:ext>
            </a:extLst>
          </p:cNvPr>
          <p:cNvSpPr/>
          <p:nvPr/>
        </p:nvSpPr>
        <p:spPr>
          <a:xfrm>
            <a:off x="914400" y="10020300"/>
            <a:ext cx="16185445" cy="0"/>
          </a:xfrm>
          <a:prstGeom prst="line">
            <a:avLst/>
          </a:prstGeom>
          <a:ln w="38100" cap="flat">
            <a:solidFill>
              <a:srgbClr val="2E3A44"/>
            </a:solidFill>
            <a:prstDash val="solid"/>
            <a:headEnd type="oval" w="lg" len="lg"/>
            <a:tailEnd type="oval" w="lg" len="lg"/>
          </a:ln>
        </p:spPr>
        <p:txBody>
          <a:bodyPr/>
          <a:lstStyle/>
          <a:p>
            <a:endParaRPr lang="en-IN" dirty="0"/>
          </a:p>
        </p:txBody>
      </p:sp>
      <p:grpSp>
        <p:nvGrpSpPr>
          <p:cNvPr id="6" name="Group 6">
            <a:extLst>
              <a:ext uri="{FF2B5EF4-FFF2-40B4-BE49-F238E27FC236}">
                <a16:creationId xmlns:a16="http://schemas.microsoft.com/office/drawing/2014/main" id="{E11720B0-0BF4-C052-1220-4F573625C439}"/>
              </a:ext>
            </a:extLst>
          </p:cNvPr>
          <p:cNvGrpSpPr/>
          <p:nvPr/>
        </p:nvGrpSpPr>
        <p:grpSpPr>
          <a:xfrm>
            <a:off x="322038" y="-1115182"/>
            <a:ext cx="2230365" cy="2230365"/>
            <a:chOff x="0" y="0"/>
            <a:chExt cx="812800" cy="812800"/>
          </a:xfrm>
        </p:grpSpPr>
        <p:sp>
          <p:nvSpPr>
            <p:cNvPr id="7" name="Freeform 7">
              <a:extLst>
                <a:ext uri="{FF2B5EF4-FFF2-40B4-BE49-F238E27FC236}">
                  <a16:creationId xmlns:a16="http://schemas.microsoft.com/office/drawing/2014/main" id="{482747B2-65CD-6A55-C9E0-95DAC79D0D1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8" name="TextBox 8">
              <a:extLst>
                <a:ext uri="{FF2B5EF4-FFF2-40B4-BE49-F238E27FC236}">
                  <a16:creationId xmlns:a16="http://schemas.microsoft.com/office/drawing/2014/main" id="{180628F1-7B21-0089-D6CF-C59060F0FF4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a:extLst>
              <a:ext uri="{FF2B5EF4-FFF2-40B4-BE49-F238E27FC236}">
                <a16:creationId xmlns:a16="http://schemas.microsoft.com/office/drawing/2014/main" id="{8EE7153D-C486-4D30-F7C6-9E8C893434AC}"/>
              </a:ext>
            </a:extLst>
          </p:cNvPr>
          <p:cNvSpPr txBox="1"/>
          <p:nvPr/>
        </p:nvSpPr>
        <p:spPr>
          <a:xfrm>
            <a:off x="2971800" y="-279813"/>
            <a:ext cx="11875096" cy="1151918"/>
          </a:xfrm>
          <a:prstGeom prst="rect">
            <a:avLst/>
          </a:prstGeom>
        </p:spPr>
        <p:txBody>
          <a:bodyPr wrap="square" lIns="0" tIns="0" rIns="0" bIns="0" rtlCol="0" anchor="t">
            <a:spAutoFit/>
          </a:bodyPr>
          <a:lstStyle/>
          <a:p>
            <a:pPr algn="ctr">
              <a:lnSpc>
                <a:spcPts val="10500"/>
              </a:lnSpc>
            </a:pPr>
            <a:r>
              <a:rPr lang="en-IN" sz="4000" b="1" dirty="0">
                <a:solidFill>
                  <a:srgbClr val="2E3A44"/>
                </a:solidFill>
                <a:latin typeface="Nirand Bold"/>
                <a:ea typeface="Nirand Bold"/>
                <a:cs typeface="Nirand Bold"/>
                <a:sym typeface="Nirand Bold"/>
              </a:rPr>
              <a:t>SYSTEM SCREENSHOTS </a:t>
            </a:r>
            <a:endParaRPr lang="en-US" sz="4000" b="1" dirty="0">
              <a:solidFill>
                <a:srgbClr val="2E3A44"/>
              </a:solidFill>
              <a:latin typeface="Nirand Bold"/>
              <a:ea typeface="Nirand Bold"/>
              <a:cs typeface="Nirand Bold"/>
              <a:sym typeface="Nirand Bold"/>
            </a:endParaRPr>
          </a:p>
        </p:txBody>
      </p:sp>
      <p:sp>
        <p:nvSpPr>
          <p:cNvPr id="13" name="TextBox 12">
            <a:extLst>
              <a:ext uri="{FF2B5EF4-FFF2-40B4-BE49-F238E27FC236}">
                <a16:creationId xmlns:a16="http://schemas.microsoft.com/office/drawing/2014/main" id="{F73BD0B3-9C3F-9C7D-EABC-2C295AD4BA45}"/>
              </a:ext>
            </a:extLst>
          </p:cNvPr>
          <p:cNvSpPr txBox="1"/>
          <p:nvPr/>
        </p:nvSpPr>
        <p:spPr>
          <a:xfrm>
            <a:off x="12039600" y="8039100"/>
            <a:ext cx="754191" cy="564692"/>
          </a:xfrm>
          <a:prstGeom prst="rect">
            <a:avLst/>
          </a:prstGeom>
          <a:solidFill>
            <a:schemeClr val="bg1">
              <a:lumMod val="95000"/>
            </a:schemeClr>
          </a:solidFill>
        </p:spPr>
        <p:txBody>
          <a:bodyPr wrap="square" rtlCol="0">
            <a:spAutoFit/>
          </a:bodyPr>
          <a:lstStyle/>
          <a:p>
            <a:endParaRPr lang="en-IN" dirty="0"/>
          </a:p>
        </p:txBody>
      </p:sp>
      <p:sp>
        <p:nvSpPr>
          <p:cNvPr id="14" name="TextBox 13">
            <a:extLst>
              <a:ext uri="{FF2B5EF4-FFF2-40B4-BE49-F238E27FC236}">
                <a16:creationId xmlns:a16="http://schemas.microsoft.com/office/drawing/2014/main" id="{D73060F9-4184-BCA5-B7F8-BF0346A044BF}"/>
              </a:ext>
            </a:extLst>
          </p:cNvPr>
          <p:cNvSpPr txBox="1"/>
          <p:nvPr/>
        </p:nvSpPr>
        <p:spPr>
          <a:xfrm>
            <a:off x="4564191" y="8020200"/>
            <a:ext cx="754191" cy="564692"/>
          </a:xfrm>
          <a:prstGeom prst="rect">
            <a:avLst/>
          </a:prstGeom>
          <a:solidFill>
            <a:schemeClr val="bg1">
              <a:lumMod val="95000"/>
            </a:schemeClr>
          </a:solidFill>
        </p:spPr>
        <p:txBody>
          <a:bodyPr wrap="square" rtlCol="0">
            <a:spAutoFit/>
          </a:bodyPr>
          <a:lstStyle/>
          <a:p>
            <a:endParaRPr lang="en-IN" dirty="0"/>
          </a:p>
        </p:txBody>
      </p:sp>
      <p:sp>
        <p:nvSpPr>
          <p:cNvPr id="15" name="TextBox 14">
            <a:extLst>
              <a:ext uri="{FF2B5EF4-FFF2-40B4-BE49-F238E27FC236}">
                <a16:creationId xmlns:a16="http://schemas.microsoft.com/office/drawing/2014/main" id="{B6EFBCA0-CBAA-7A21-4CB2-1CA2B1B1BC5F}"/>
              </a:ext>
            </a:extLst>
          </p:cNvPr>
          <p:cNvSpPr txBox="1"/>
          <p:nvPr/>
        </p:nvSpPr>
        <p:spPr>
          <a:xfrm>
            <a:off x="12058135" y="1485900"/>
            <a:ext cx="754191" cy="564692"/>
          </a:xfrm>
          <a:prstGeom prst="rect">
            <a:avLst/>
          </a:prstGeom>
          <a:solidFill>
            <a:schemeClr val="bg1">
              <a:lumMod val="95000"/>
            </a:schemeClr>
          </a:solidFill>
        </p:spPr>
        <p:txBody>
          <a:bodyPr wrap="square" rtlCol="0">
            <a:spAutoFit/>
          </a:bodyPr>
          <a:lstStyle/>
          <a:p>
            <a:endParaRPr lang="en-IN" dirty="0"/>
          </a:p>
        </p:txBody>
      </p:sp>
      <p:sp>
        <p:nvSpPr>
          <p:cNvPr id="16" name="TextBox 15">
            <a:extLst>
              <a:ext uri="{FF2B5EF4-FFF2-40B4-BE49-F238E27FC236}">
                <a16:creationId xmlns:a16="http://schemas.microsoft.com/office/drawing/2014/main" id="{5007DD2C-E153-460B-754D-7B97424D59C1}"/>
              </a:ext>
            </a:extLst>
          </p:cNvPr>
          <p:cNvSpPr txBox="1"/>
          <p:nvPr/>
        </p:nvSpPr>
        <p:spPr>
          <a:xfrm>
            <a:off x="4564191" y="1485900"/>
            <a:ext cx="754191" cy="564692"/>
          </a:xfrm>
          <a:prstGeom prst="rect">
            <a:avLst/>
          </a:prstGeom>
          <a:solidFill>
            <a:schemeClr val="bg1">
              <a:lumMod val="95000"/>
            </a:schemeClr>
          </a:solidFill>
        </p:spPr>
        <p:txBody>
          <a:bodyPr wrap="square" rtlCol="0">
            <a:spAutoFit/>
          </a:bodyPr>
          <a:lstStyle/>
          <a:p>
            <a:endParaRPr lang="en-IN" dirty="0"/>
          </a:p>
        </p:txBody>
      </p:sp>
      <p:pic>
        <p:nvPicPr>
          <p:cNvPr id="10" name="Picture 9">
            <a:extLst>
              <a:ext uri="{FF2B5EF4-FFF2-40B4-BE49-F238E27FC236}">
                <a16:creationId xmlns:a16="http://schemas.microsoft.com/office/drawing/2014/main" id="{F85C6432-767F-34B1-5D1C-4F5788E7E5D1}"/>
              </a:ext>
            </a:extLst>
          </p:cNvPr>
          <p:cNvPicPr>
            <a:picLocks noChangeAspect="1"/>
          </p:cNvPicPr>
          <p:nvPr/>
        </p:nvPicPr>
        <p:blipFill>
          <a:blip r:embed="rId2"/>
          <a:stretch>
            <a:fillRect/>
          </a:stretch>
        </p:blipFill>
        <p:spPr>
          <a:xfrm>
            <a:off x="4186870" y="1891517"/>
            <a:ext cx="8995622" cy="5959411"/>
          </a:xfrm>
          <a:prstGeom prst="rect">
            <a:avLst/>
          </a:prstGeom>
        </p:spPr>
      </p:pic>
    </p:spTree>
    <p:extLst>
      <p:ext uri="{BB962C8B-B14F-4D97-AF65-F5344CB8AC3E}">
        <p14:creationId xmlns:p14="http://schemas.microsoft.com/office/powerpoint/2010/main" val="2017607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5194" y="-1345629"/>
            <a:ext cx="3517329" cy="351732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882213" y="-1345629"/>
            <a:ext cx="13341342" cy="1334134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IN"/>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IN"/>
          </a:p>
        </p:txBody>
      </p:sp>
      <p:grpSp>
        <p:nvGrpSpPr>
          <p:cNvPr id="9" name="Group 9"/>
          <p:cNvGrpSpPr/>
          <p:nvPr/>
        </p:nvGrpSpPr>
        <p:grpSpPr>
          <a:xfrm>
            <a:off x="17259300" y="3262130"/>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458239" y="3924493"/>
            <a:ext cx="6695941" cy="1235338"/>
          </a:xfrm>
          <a:prstGeom prst="rect">
            <a:avLst/>
          </a:prstGeom>
        </p:spPr>
        <p:txBody>
          <a:bodyPr lIns="0" tIns="0" rIns="0" bIns="0" rtlCol="0" anchor="t">
            <a:spAutoFit/>
          </a:bodyPr>
          <a:lstStyle/>
          <a:p>
            <a:pPr algn="l">
              <a:lnSpc>
                <a:spcPts val="10500"/>
              </a:lnSpc>
            </a:pPr>
            <a:r>
              <a:rPr lang="en-US" sz="7500" b="1" dirty="0">
                <a:solidFill>
                  <a:srgbClr val="2E3A44"/>
                </a:solidFill>
                <a:latin typeface="Times New Roman" panose="02020603050405020304" pitchFamily="18" charset="0"/>
                <a:ea typeface="Nirand Bold"/>
                <a:cs typeface="Times New Roman" panose="02020603050405020304" pitchFamily="18" charset="0"/>
                <a:sym typeface="Nirand Bold"/>
              </a:rPr>
              <a:t>CONCLUSION</a:t>
            </a:r>
          </a:p>
        </p:txBody>
      </p:sp>
      <p:sp>
        <p:nvSpPr>
          <p:cNvPr id="13" name="TextBox 13"/>
          <p:cNvSpPr txBox="1"/>
          <p:nvPr/>
        </p:nvSpPr>
        <p:spPr>
          <a:xfrm>
            <a:off x="9358768" y="1857397"/>
            <a:ext cx="6668316" cy="6155531"/>
          </a:xfrm>
          <a:prstGeom prst="rect">
            <a:avLst/>
          </a:prstGeom>
        </p:spPr>
        <p:txBody>
          <a:bodyPr lIns="0" tIns="0" rIns="0" bIns="0" rtlCol="0" anchor="t">
            <a:spAutoFit/>
          </a:bodyPr>
          <a:lstStyle/>
          <a:p>
            <a:pPr algn="just">
              <a:buNone/>
            </a:pPr>
            <a:endParaRPr lang="en-US" sz="2000" b="1" dirty="0">
              <a:latin typeface="Times New Roman" panose="02020603050405020304" pitchFamily="18" charset="0"/>
              <a:cs typeface="Times New Roman" panose="02020603050405020304" pitchFamily="18" charset="0"/>
            </a:endParaRPr>
          </a:p>
          <a:p>
            <a:pPr algn="just">
              <a:buNone/>
            </a:pPr>
            <a:r>
              <a:rPr lang="en-US" sz="2000" dirty="0">
                <a:latin typeface="Times New Roman" panose="02020603050405020304" pitchFamily="18" charset="0"/>
                <a:cs typeface="Times New Roman" panose="02020603050405020304" pitchFamily="18" charset="0"/>
              </a:rPr>
              <a:t>MAITRI is a multimodal AI-based mental health support system designed to understand and respond to human emotions in a natural and empathetic manner. By integrating </a:t>
            </a:r>
            <a:r>
              <a:rPr lang="en-US" sz="2000" b="1" dirty="0">
                <a:latin typeface="Times New Roman" panose="02020603050405020304" pitchFamily="18" charset="0"/>
                <a:cs typeface="Times New Roman" panose="02020603050405020304" pitchFamily="18" charset="0"/>
              </a:rPr>
              <a:t>facial emotion recognition using CNN</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voice emotion analysis using </a:t>
            </a:r>
            <a:r>
              <a:rPr lang="en-US" sz="2000" b="1" dirty="0" err="1">
                <a:latin typeface="Times New Roman" panose="02020603050405020304" pitchFamily="18" charset="0"/>
                <a:cs typeface="Times New Roman" panose="02020603050405020304" pitchFamily="18" charset="0"/>
              </a:rPr>
              <a:t>HuBERT</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chat-based emotional understanding using a large language model</a:t>
            </a:r>
            <a:r>
              <a:rPr lang="en-US" sz="2000" dirty="0">
                <a:latin typeface="Times New Roman" panose="02020603050405020304" pitchFamily="18" charset="0"/>
                <a:cs typeface="Times New Roman" panose="02020603050405020304" pitchFamily="18" charset="0"/>
              </a:rPr>
              <a:t>, MAITRI provides a more accurate and human-like interpretation of a user’s emotional state.</a:t>
            </a:r>
          </a:p>
          <a:p>
            <a:pPr algn="just">
              <a:buNone/>
            </a:pPr>
            <a:r>
              <a:rPr lang="en-US" sz="2000" dirty="0">
                <a:latin typeface="Times New Roman" panose="02020603050405020304" pitchFamily="18" charset="0"/>
                <a:cs typeface="Times New Roman" panose="02020603050405020304" pitchFamily="18" charset="0"/>
              </a:rPr>
              <a:t>The system successfully demonstrates how artificial intelligence can be used to make mental health support </a:t>
            </a:r>
            <a:r>
              <a:rPr lang="en-US" sz="2000" b="1" dirty="0">
                <a:latin typeface="Times New Roman" panose="02020603050405020304" pitchFamily="18" charset="0"/>
                <a:cs typeface="Times New Roman" panose="02020603050405020304" pitchFamily="18" charset="0"/>
              </a:rPr>
              <a:t>more accessible, personalized, and non-judgmental</a:t>
            </a:r>
            <a:r>
              <a:rPr lang="en-US" sz="2000" dirty="0">
                <a:latin typeface="Times New Roman" panose="02020603050405020304" pitchFamily="18" charset="0"/>
                <a:cs typeface="Times New Roman" panose="02020603050405020304" pitchFamily="18" charset="0"/>
              </a:rPr>
              <a:t>. Its modular architecture allows real-time emotion detection and response generation while maintaining user privacy by avoiding data storage.</a:t>
            </a:r>
          </a:p>
          <a:p>
            <a:pPr algn="just">
              <a:buNone/>
            </a:pPr>
            <a:r>
              <a:rPr lang="en-US" sz="2000" dirty="0">
                <a:latin typeface="Times New Roman" panose="02020603050405020304" pitchFamily="18" charset="0"/>
                <a:cs typeface="Times New Roman" panose="02020603050405020304" pitchFamily="18" charset="0"/>
              </a:rPr>
              <a:t>Although MAITRI is not a replacement for professional mental health services, it serves as an effective </a:t>
            </a:r>
            <a:r>
              <a:rPr lang="en-US" sz="2000" b="1" dirty="0">
                <a:latin typeface="Times New Roman" panose="02020603050405020304" pitchFamily="18" charset="0"/>
                <a:cs typeface="Times New Roman" panose="02020603050405020304" pitchFamily="18" charset="0"/>
              </a:rPr>
              <a:t>first-level emotional support companion</a:t>
            </a:r>
            <a:r>
              <a:rPr lang="en-US" sz="2000" dirty="0">
                <a:latin typeface="Times New Roman" panose="02020603050405020304" pitchFamily="18" charset="0"/>
                <a:cs typeface="Times New Roman" panose="02020603050405020304" pitchFamily="18" charset="0"/>
              </a:rPr>
              <a:t>, especially for individuals who hesitate to openly express their feelings. Overall, the project highlights the potential of multimodal AI systems in addressing mental health challenges and lays a strong foundation for future enhancements in intelligent emotional support applications.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C0D1DF"/>
        </a:solidFill>
        <a:effectLst/>
      </p:bgPr>
    </p:bg>
    <p:spTree>
      <p:nvGrpSpPr>
        <p:cNvPr id="1" name=""/>
        <p:cNvGrpSpPr/>
        <p:nvPr/>
      </p:nvGrpSpPr>
      <p:grpSpPr>
        <a:xfrm>
          <a:off x="0" y="0"/>
          <a:ext cx="0" cy="0"/>
          <a:chOff x="0" y="0"/>
          <a:chExt cx="0" cy="0"/>
        </a:xfrm>
      </p:grpSpPr>
      <p:grpSp>
        <p:nvGrpSpPr>
          <p:cNvPr id="2" name="Group 2"/>
          <p:cNvGrpSpPr/>
          <p:nvPr/>
        </p:nvGrpSpPr>
        <p:grpSpPr>
          <a:xfrm>
            <a:off x="831965" y="-2876710"/>
            <a:ext cx="16040420" cy="1604042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IN"/>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5211909" y="2963670"/>
            <a:ext cx="7864182" cy="4621531"/>
          </a:xfrm>
          <a:prstGeom prst="rect">
            <a:avLst/>
          </a:prstGeom>
        </p:spPr>
        <p:txBody>
          <a:bodyPr lIns="0" tIns="0" rIns="0" bIns="0" rtlCol="0" anchor="t">
            <a:spAutoFit/>
          </a:bodyPr>
          <a:lstStyle/>
          <a:p>
            <a:pPr algn="ctr">
              <a:lnSpc>
                <a:spcPts val="15810"/>
              </a:lnSpc>
            </a:pPr>
            <a:r>
              <a:rPr lang="en-US" sz="17000" b="1">
                <a:solidFill>
                  <a:srgbClr val="627484"/>
                </a:solidFill>
                <a:latin typeface="Nirand Bold"/>
                <a:ea typeface="Nirand Bold"/>
                <a:cs typeface="Nirand Bold"/>
                <a:sym typeface="Nirand Bold"/>
              </a:rPr>
              <a:t>Thank You</a:t>
            </a:r>
          </a:p>
        </p:txBody>
      </p:sp>
      <p:grpSp>
        <p:nvGrpSpPr>
          <p:cNvPr id="6" name="Group 6"/>
          <p:cNvGrpSpPr/>
          <p:nvPr/>
        </p:nvGrpSpPr>
        <p:grpSpPr>
          <a:xfrm>
            <a:off x="13076091" y="710993"/>
            <a:ext cx="2513081" cy="25130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AutoShape 9"/>
          <p:cNvSpPr/>
          <p:nvPr/>
        </p:nvSpPr>
        <p:spPr>
          <a:xfrm>
            <a:off x="-1700579" y="1028700"/>
            <a:ext cx="7733905" cy="0"/>
          </a:xfrm>
          <a:prstGeom prst="line">
            <a:avLst/>
          </a:prstGeom>
          <a:ln w="38100" cap="flat">
            <a:solidFill>
              <a:srgbClr val="2E3A44"/>
            </a:solidFill>
            <a:prstDash val="solid"/>
            <a:headEnd type="none" w="sm" len="sm"/>
            <a:tailEnd type="oval" w="lg" len="lg"/>
          </a:ln>
        </p:spPr>
        <p:txBody>
          <a:bodyPr/>
          <a:lstStyle/>
          <a:p>
            <a:endParaRPr lang="en-IN"/>
          </a:p>
        </p:txBody>
      </p:sp>
      <p:sp>
        <p:nvSpPr>
          <p:cNvPr id="10" name="AutoShape 10"/>
          <p:cNvSpPr/>
          <p:nvPr/>
        </p:nvSpPr>
        <p:spPr>
          <a:xfrm>
            <a:off x="11230885" y="9258300"/>
            <a:ext cx="7770392" cy="0"/>
          </a:xfrm>
          <a:prstGeom prst="line">
            <a:avLst/>
          </a:prstGeom>
          <a:ln w="38100" cap="flat">
            <a:solidFill>
              <a:srgbClr val="2E3A44"/>
            </a:solidFill>
            <a:prstDash val="solid"/>
            <a:headEnd type="oval" w="lg" len="lg"/>
            <a:tailEnd type="none" w="sm" len="sm"/>
          </a:ln>
        </p:spPr>
        <p:txBody>
          <a:bodyPr/>
          <a:lstStyle/>
          <a:p>
            <a:endParaRPr lang="en-IN"/>
          </a:p>
        </p:txBody>
      </p:sp>
      <p:grpSp>
        <p:nvGrpSpPr>
          <p:cNvPr id="11" name="Group 11"/>
          <p:cNvGrpSpPr/>
          <p:nvPr/>
        </p:nvGrpSpPr>
        <p:grpSpPr>
          <a:xfrm>
            <a:off x="2740932" y="6266276"/>
            <a:ext cx="1586288" cy="1586288"/>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IN"/>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239</TotalTime>
  <Words>2691</Words>
  <Application>Microsoft Office PowerPoint</Application>
  <PresentationFormat>Custom</PresentationFormat>
  <Paragraphs>259</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Calibri</vt:lpstr>
      <vt:lpstr>Arial</vt:lpstr>
      <vt:lpstr>Nirand Bold</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Blue Minimalist Geometric Group Project Presentation</dc:title>
  <dc:creator>anshu</dc:creator>
  <cp:lastModifiedBy>sakshi yadav</cp:lastModifiedBy>
  <cp:revision>39</cp:revision>
  <dcterms:created xsi:type="dcterms:W3CDTF">2006-08-16T00:00:00Z</dcterms:created>
  <dcterms:modified xsi:type="dcterms:W3CDTF">2026-01-31T01:03:57Z</dcterms:modified>
  <dc:identifier>DAG_5dop4Cg</dc:identifier>
</cp:coreProperties>
</file>